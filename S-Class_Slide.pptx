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Roboto" panose="020000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61" d="100"/>
          <a:sy n="61" d="100"/>
        </p:scale>
        <p:origin x="8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Xin chào Ban giám khảo. Nhóm em xin trình bày dự án S-Class – ứng dụng web giúp giáo viên chủ nhiệm và cán sự quản lý lớp học đông học sinh, gồm sáu phân hệ trong một hệ thống thống nhất.</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Sĩ số phổ biến 35–50 học sinh, trong khi chỉ có một GVCN và 3–4 cán sự. Ghi bảng, giấy, nhóm chat gây phân tán thông tin, thiếu minh bạch, tốn thời gian và không lưu được lịch sử.</a:t>
            </a:r>
            <a:endParaRPr/>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Năm câu hỏi nghiên cứu xoay quanh khó khăn hiện tại, khả năng số hóa, tính công bằng, việc nắm thông tin và đánh giá của người dùng. Mục tiêu kỹ thuật là hệ thống sáu phân hệ.</a:t>
            </a:r>
            <a:endParaRPr/>
          </a:p>
        </p:txBody>
      </p:sp>
      <p:sp>
        <p:nvSpPr>
          <p:cNvPr id="62" name="Google Shape;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Hệ thống ba tầng: giao diện React, tầng xử lý serverless và cơ sở dữ liệu MongoDB. Mọi thao tác ghi quan trọng đi qua tầng xử lý để học sinh không can thiệp trực tiếp vào dữ liệu. Có ba vai trò: quản trị viên, cán sự, học sinh.</a:t>
            </a:r>
            <a:endParaRPr/>
          </a:p>
        </p:txBody>
      </p:sp>
      <p:sp>
        <p:nvSpPr>
          <p:cNvPr id="97" name="Google Shape;9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Sáu phân hệ gồm sắp xếp chỗ ngồi, bầu cử, quản lý hoạt động, bản tin tuần, lịch trực nhật và phân nhóm. Hiện chỗ ngồi đã hoàn chỉnh, bầu cử đang hoàn thiện, các phân hệ còn lại chưa triển khai.</a:t>
            </a:r>
            <a:endParaRPr/>
          </a:p>
        </p:txBody>
      </p:sp>
      <p:sp>
        <p:nvSpPr>
          <p:cNvPr id="135" name="Google Shape;13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12bb6fda0ac8e295_1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h12bb6fda0ac8e295_1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h12bb6fda0ac8e295_1_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h12bb6fda0ac8e295_1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h12bb6fda0ac8e295_1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Phân hệ chỗ ngồi cho phép tùy chỉnh sơ đồ lớp, nhập danh sách bằng Excel và đặt quy luật riêng. Phân hệ bầu cử lưu riêng danh sách người đã bỏ phiếu và hòm phiếu ẩn danh, nên vừa kín vừa kiểm tra được tổng số phiếu.</a:t>
            </a:r>
            <a:endParaRPr/>
          </a:p>
        </p:txBody>
      </p:sp>
      <p:sp>
        <p:nvSpPr>
          <p:cNvPr id="186" name="Google Shape;186;h12bb6fda0ac8e295_1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Phân hệ chỗ ngồi cho phép tùy chỉnh sơ đồ lớp, nhập danh sách bằng Excel và đặt quy luật riêng. Phân hệ bầu cử lưu riêng danh sách người đã bỏ phiếu và hòm phiếu ẩn danh, nên vừa kín vừa kiểm tra được tổng số phiếu.</a:t>
            </a:r>
            <a:endParaRPr/>
          </a:p>
        </p:txBody>
      </p:sp>
      <p:sp>
        <p:nvSpPr>
          <p:cNvPr id="226" name="Google Shape;22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Cuối tuần cán sự mở bản tin mới, kiểm tra các mục tự điền, bổ sung lịch kiểm tra và hạn nộp, gửi GVCN duyệt. Học sinh nhận thông báo và đánh dấu hoàn thành trong tuần.</a:t>
            </a:r>
            <a:endParaRPr/>
          </a:p>
        </p:txBody>
      </p:sp>
      <p:sp>
        <p:nvSpPr>
          <p:cNvPr id="237" name="Google Shape;23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Lịch trực nhật dùng thuật toán xoay vòng để số lần trực chênh lệch không quá 1. Phân nhóm dùng thuật toán Fisher–Yates rồi áp dụng ràng buộc, kết quả lưu theo môn học và học kỳ để học sinh xem Nhóm của tôi.</a:t>
            </a:r>
            <a:endParaRPr/>
          </a:p>
        </p:txBody>
      </p:sp>
      <p:sp>
        <p:nvSpPr>
          <p:cNvPr id="289" name="Google Shape;28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Dữ liệu gồm các collection cho lớp, học sinh, chỗ ngồi, bầu cử tách riêng, hoạt động, bản tin, trực nhật, nhóm và nhật ký thao tác. Thực nghiệm tại lớp 10A5, khảo sát bằng Google Forms trước và sau, đo thời gian thủ công so với dùng S-Class.</a:t>
            </a:r>
            <a:endParaRPr/>
          </a:p>
        </p:txBody>
      </p:sp>
      <p:sp>
        <p:nvSpPr>
          <p:cNvPr id="338" name="Google Shape;33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Hiện phân hệ chỗ ngồi đã hoàn chỉnh, bầu cử đang hoàn thiện; các phân hệ còn lại và thực nghiệm sẽ triển khai tiếp. Sau đó dự án có thể mở rộng thành hệ thống quản lý cấp trường. Xin cảm ơn Ban giám khảo.</a:t>
            </a:r>
            <a:endParaRPr/>
          </a:p>
        </p:txBody>
      </p:sp>
      <p:sp>
        <p:nvSpPr>
          <p:cNvPr id="370" name="Google Shape;37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Shape 15"/>
        <p:cNvGrpSpPr/>
        <p:nvPr/>
      </p:nvGrpSpPr>
      <p:grpSpPr>
        <a:xfrm>
          <a:off x="0" y="0"/>
          <a:ext cx="0" cy="0"/>
          <a:chOff x="0" y="0"/>
          <a:chExt cx="0" cy="0"/>
        </a:xfrm>
      </p:grpSpPr>
      <p:sp>
        <p:nvSpPr>
          <p:cNvPr id="16" name="Google Shape;16;p3"/>
          <p:cNvSpPr/>
          <p:nvPr/>
        </p:nvSpPr>
        <p:spPr>
          <a:xfrm>
            <a:off x="640080" y="640080"/>
            <a:ext cx="2103000" cy="365700"/>
          </a:xfrm>
          <a:prstGeom prst="roundRect">
            <a:avLst>
              <a:gd name="adj" fmla="val 375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noProof="0" dirty="0"/>
          </a:p>
        </p:txBody>
      </p:sp>
      <p:sp>
        <p:nvSpPr>
          <p:cNvPr id="17" name="Google Shape;17;p3"/>
          <p:cNvSpPr txBox="1"/>
          <p:nvPr/>
        </p:nvSpPr>
        <p:spPr>
          <a:xfrm>
            <a:off x="640080" y="640080"/>
            <a:ext cx="21030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200"/>
              <a:buFont typeface="Calibri"/>
              <a:buNone/>
            </a:pPr>
            <a:r>
              <a:rPr lang="vi-VN" sz="1300" b="1" noProof="0" dirty="0">
                <a:solidFill>
                  <a:srgbClr val="0B1F3A"/>
                </a:solidFill>
                <a:latin typeface="Calibri"/>
                <a:ea typeface="Calibri"/>
                <a:cs typeface="Calibri"/>
                <a:sym typeface="Calibri"/>
              </a:rPr>
              <a:t>PHẦN MỀM HỆ THỐNG</a:t>
            </a:r>
            <a:endParaRPr lang="vi-VN" sz="1300" b="0" i="0" u="none" strike="noStrike" cap="none" noProof="0" dirty="0">
              <a:solidFill>
                <a:schemeClr val="dk1"/>
              </a:solidFill>
              <a:latin typeface="Calibri"/>
              <a:ea typeface="Calibri"/>
              <a:cs typeface="Calibri"/>
              <a:sym typeface="Calibri"/>
            </a:endParaRPr>
          </a:p>
        </p:txBody>
      </p:sp>
      <p:sp>
        <p:nvSpPr>
          <p:cNvPr id="18" name="Google Shape;18;p3"/>
          <p:cNvSpPr txBox="1"/>
          <p:nvPr/>
        </p:nvSpPr>
        <p:spPr>
          <a:xfrm>
            <a:off x="640080" y="1371600"/>
            <a:ext cx="59436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5400"/>
              <a:buFont typeface="Calibri"/>
              <a:buNone/>
            </a:pPr>
            <a:r>
              <a:rPr lang="vi-VN" sz="6100" b="1" i="0" u="none" strike="noStrike" cap="none" noProof="0" dirty="0">
                <a:solidFill>
                  <a:srgbClr val="FFFFFF"/>
                </a:solidFill>
                <a:latin typeface="Calibri"/>
                <a:ea typeface="Calibri"/>
                <a:cs typeface="Calibri"/>
                <a:sym typeface="Calibri"/>
              </a:rPr>
              <a:t>S-</a:t>
            </a:r>
            <a:r>
              <a:rPr lang="vi-VN" sz="6100" b="1" i="0" u="none" strike="noStrike" cap="none" noProof="0" dirty="0" err="1">
                <a:solidFill>
                  <a:srgbClr val="FFFFFF"/>
                </a:solidFill>
                <a:latin typeface="Calibri"/>
                <a:ea typeface="Calibri"/>
                <a:cs typeface="Calibri"/>
                <a:sym typeface="Calibri"/>
              </a:rPr>
              <a:t>Class</a:t>
            </a:r>
            <a:endParaRPr lang="vi-VN" sz="6100" b="0" i="0" u="none" strike="noStrike" cap="none" noProof="0" dirty="0">
              <a:solidFill>
                <a:schemeClr val="dk1"/>
              </a:solidFill>
              <a:latin typeface="Calibri"/>
              <a:ea typeface="Calibri"/>
              <a:cs typeface="Calibri"/>
              <a:sym typeface="Calibri"/>
            </a:endParaRPr>
          </a:p>
        </p:txBody>
      </p:sp>
      <p:sp>
        <p:nvSpPr>
          <p:cNvPr id="19" name="Google Shape;19;p3"/>
          <p:cNvSpPr txBox="1"/>
          <p:nvPr/>
        </p:nvSpPr>
        <p:spPr>
          <a:xfrm>
            <a:off x="640080" y="2331720"/>
            <a:ext cx="5943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DEBFF"/>
              </a:buClr>
              <a:buSzPts val="2200"/>
              <a:buFont typeface="Calibri"/>
              <a:buNone/>
            </a:pPr>
            <a:r>
              <a:rPr lang="vi-VN" sz="3100" b="0" i="0" u="none" strike="noStrike" cap="none" noProof="0" dirty="0">
                <a:solidFill>
                  <a:srgbClr val="CDEBFF"/>
                </a:solidFill>
                <a:latin typeface="Calibri"/>
                <a:ea typeface="Calibri"/>
                <a:cs typeface="Calibri"/>
                <a:sym typeface="Calibri"/>
              </a:rPr>
              <a:t>Phần mềm hỗ trợ quản lý lớp học</a:t>
            </a:r>
            <a:endParaRPr lang="vi-VN" sz="3100" b="0" i="0" u="none" strike="noStrike" cap="none" noProof="0" dirty="0">
              <a:solidFill>
                <a:schemeClr val="dk1"/>
              </a:solidFill>
              <a:latin typeface="Calibri"/>
              <a:ea typeface="Calibri"/>
              <a:cs typeface="Calibri"/>
              <a:sym typeface="Calibri"/>
            </a:endParaRPr>
          </a:p>
        </p:txBody>
      </p:sp>
      <p:sp>
        <p:nvSpPr>
          <p:cNvPr id="20" name="Google Shape;20;p3"/>
          <p:cNvSpPr/>
          <p:nvPr/>
        </p:nvSpPr>
        <p:spPr>
          <a:xfrm>
            <a:off x="753200" y="3780375"/>
            <a:ext cx="4114800" cy="1308900"/>
          </a:xfrm>
          <a:prstGeom prst="roundRect">
            <a:avLst>
              <a:gd name="adj" fmla="val 6452"/>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noProof="0" dirty="0"/>
          </a:p>
        </p:txBody>
      </p:sp>
      <p:sp>
        <p:nvSpPr>
          <p:cNvPr id="21" name="Google Shape;21;p3"/>
          <p:cNvSpPr txBox="1"/>
          <p:nvPr/>
        </p:nvSpPr>
        <p:spPr>
          <a:xfrm>
            <a:off x="843900" y="3780375"/>
            <a:ext cx="4400100" cy="1308900"/>
          </a:xfrm>
          <a:prstGeom prst="rect">
            <a:avLst/>
          </a:prstGeom>
          <a:noFill/>
          <a:ln>
            <a:noFill/>
          </a:ln>
        </p:spPr>
        <p:txBody>
          <a:bodyPr spcFirstLastPara="1" wrap="square" lIns="0" tIns="0" rIns="0" bIns="0" anchor="ctr" anchorCtr="0">
            <a:noAutofit/>
          </a:bodyPr>
          <a:lstStyle/>
          <a:p>
            <a:pPr marL="0" marR="0" lvl="0" indent="0" algn="just" rtl="0">
              <a:spcBef>
                <a:spcPts val="0"/>
              </a:spcBef>
              <a:spcAft>
                <a:spcPts val="0"/>
              </a:spcAft>
              <a:buClr>
                <a:srgbClr val="0B1F3A"/>
              </a:buClr>
              <a:buSzPts val="1600"/>
              <a:buFont typeface="Calibri"/>
              <a:buNone/>
            </a:pPr>
            <a:r>
              <a:rPr lang="vi-VN" sz="1600" b="1" i="0" u="none" strike="noStrike" cap="none" noProof="0" dirty="0">
                <a:solidFill>
                  <a:srgbClr val="0B1F3A"/>
                </a:solidFill>
                <a:latin typeface="Calibri"/>
                <a:ea typeface="Calibri"/>
                <a:cs typeface="Calibri"/>
                <a:sym typeface="Calibri"/>
              </a:rPr>
              <a:t>Phạm Gia Hân – Lớp 10A5</a:t>
            </a:r>
            <a:endParaRPr lang="vi-VN" sz="1600" b="0" i="0" u="none" strike="noStrike" cap="none" noProof="0" dirty="0">
              <a:solidFill>
                <a:schemeClr val="dk1"/>
              </a:solidFill>
              <a:latin typeface="Calibri"/>
              <a:ea typeface="Calibri"/>
              <a:cs typeface="Calibri"/>
              <a:sym typeface="Calibri"/>
            </a:endParaRPr>
          </a:p>
          <a:p>
            <a:pPr marL="0" marR="0" lvl="0" indent="0" algn="just" rtl="0">
              <a:spcBef>
                <a:spcPts val="0"/>
              </a:spcBef>
              <a:spcAft>
                <a:spcPts val="0"/>
              </a:spcAft>
              <a:buClr>
                <a:srgbClr val="0B1F3A"/>
              </a:buClr>
              <a:buSzPts val="1600"/>
              <a:buFont typeface="Calibri"/>
              <a:buNone/>
            </a:pPr>
            <a:r>
              <a:rPr lang="vi-VN" sz="1600" b="1" i="0" u="none" strike="noStrike" cap="none" noProof="0" dirty="0">
                <a:solidFill>
                  <a:srgbClr val="0B1F3A"/>
                </a:solidFill>
                <a:latin typeface="Calibri"/>
                <a:ea typeface="Calibri"/>
                <a:cs typeface="Calibri"/>
                <a:sym typeface="Calibri"/>
              </a:rPr>
              <a:t>Nguyễn Phước Đức Thịnh – Lớp 10A5</a:t>
            </a:r>
            <a:endParaRPr lang="vi-VN" sz="1600" b="0" i="0" u="none" strike="noStrike" cap="none" noProof="0" dirty="0">
              <a:solidFill>
                <a:schemeClr val="dk1"/>
              </a:solidFill>
              <a:latin typeface="Calibri"/>
              <a:ea typeface="Calibri"/>
              <a:cs typeface="Calibri"/>
              <a:sym typeface="Calibri"/>
            </a:endParaRPr>
          </a:p>
          <a:p>
            <a:pPr marL="0" marR="0" lvl="0" indent="0" algn="just" rtl="0">
              <a:spcBef>
                <a:spcPts val="0"/>
              </a:spcBef>
              <a:spcAft>
                <a:spcPts val="0"/>
              </a:spcAft>
              <a:buClr>
                <a:srgbClr val="0B1F3A"/>
              </a:buClr>
              <a:buSzPts val="1600"/>
              <a:buFont typeface="Calibri"/>
              <a:buNone/>
            </a:pPr>
            <a:r>
              <a:rPr lang="vi-VN" sz="1600" b="1" i="0" u="none" strike="noStrike" cap="none" noProof="0" dirty="0">
                <a:solidFill>
                  <a:srgbClr val="0B1F3A"/>
                </a:solidFill>
                <a:latin typeface="Calibri"/>
                <a:ea typeface="Calibri"/>
                <a:cs typeface="Calibri"/>
                <a:sym typeface="Calibri"/>
              </a:rPr>
              <a:t>Trường THPT chuyên Lê Quý Đôn – Đà </a:t>
            </a:r>
            <a:r>
              <a:rPr lang="vi-VN" sz="1600" b="1" i="0" u="none" strike="noStrike" cap="none" noProof="0" dirty="0" err="1">
                <a:solidFill>
                  <a:srgbClr val="0B1F3A"/>
                </a:solidFill>
                <a:latin typeface="Calibri"/>
                <a:ea typeface="Calibri"/>
                <a:cs typeface="Calibri"/>
                <a:sym typeface="Calibri"/>
              </a:rPr>
              <a:t>Nẵng</a:t>
            </a:r>
            <a:endParaRPr lang="vi-VN" sz="1600" b="0" i="0" u="none" strike="noStrike" cap="none" noProof="0" dirty="0">
              <a:solidFill>
                <a:schemeClr val="dk1"/>
              </a:solidFill>
              <a:latin typeface="Calibri"/>
              <a:ea typeface="Calibri"/>
              <a:cs typeface="Calibri"/>
              <a:sym typeface="Calibri"/>
            </a:endParaRPr>
          </a:p>
        </p:txBody>
      </p:sp>
      <p:sp>
        <p:nvSpPr>
          <p:cNvPr id="22" name="Google Shape;22;p3"/>
          <p:cNvSpPr txBox="1"/>
          <p:nvPr/>
        </p:nvSpPr>
        <p:spPr>
          <a:xfrm>
            <a:off x="640080" y="6035040"/>
            <a:ext cx="64008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FD7EA"/>
              </a:buClr>
              <a:buSzPts val="1200"/>
              <a:buFont typeface="Calibri"/>
              <a:buNone/>
            </a:pPr>
            <a:r>
              <a:rPr lang="vi-VN" sz="1300" b="0" i="0" u="none" strike="noStrike" cap="none" noProof="0" dirty="0">
                <a:solidFill>
                  <a:srgbClr val="BFD7EA"/>
                </a:solidFill>
                <a:latin typeface="Calibri"/>
                <a:ea typeface="Calibri"/>
                <a:cs typeface="Calibri"/>
                <a:sym typeface="Calibri"/>
              </a:rPr>
              <a:t>Chỗ ngồi • Bầu cử • Hoạt động • Bản tin tuần • Trực nhật • Phân nhóm</a:t>
            </a:r>
            <a:endParaRPr lang="vi-VN" sz="1300" b="0" i="0" u="none" strike="noStrike" cap="none" noProof="0" dirty="0">
              <a:solidFill>
                <a:schemeClr val="dk1"/>
              </a:solidFill>
              <a:latin typeface="Calibri"/>
              <a:ea typeface="Calibri"/>
              <a:cs typeface="Calibri"/>
              <a:sym typeface="Calibri"/>
            </a:endParaRPr>
          </a:p>
        </p:txBody>
      </p:sp>
      <p:pic>
        <p:nvPicPr>
          <p:cNvPr id="23" name="Google Shape;23;p3"/>
          <p:cNvPicPr preferRelativeResize="0"/>
          <p:nvPr/>
        </p:nvPicPr>
        <p:blipFill>
          <a:blip r:embed="rId3">
            <a:alphaModFix/>
          </a:blip>
          <a:stretch>
            <a:fillRect/>
          </a:stretch>
        </p:blipFill>
        <p:spPr>
          <a:xfrm>
            <a:off x="6248400" y="0"/>
            <a:ext cx="5943599"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28"/>
        <p:cNvGrpSpPr/>
        <p:nvPr/>
      </p:nvGrpSpPr>
      <p:grpSpPr>
        <a:xfrm>
          <a:off x="0" y="0"/>
          <a:ext cx="0" cy="0"/>
          <a:chOff x="0" y="0"/>
          <a:chExt cx="0" cy="0"/>
        </a:xfrm>
      </p:grpSpPr>
      <p:sp>
        <p:nvSpPr>
          <p:cNvPr id="29" name="Google Shape;29;p4"/>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1. Lý do chọn đề tài</a:t>
            </a:r>
            <a:endParaRPr lang="vi-VN" sz="3000" b="0" i="0" u="none" strike="noStrike" cap="none" noProof="0" dirty="0">
              <a:solidFill>
                <a:schemeClr val="dk1"/>
              </a:solidFill>
              <a:latin typeface="Calibri"/>
              <a:ea typeface="Calibri"/>
              <a:cs typeface="Calibri"/>
              <a:sym typeface="Calibri"/>
            </a:endParaRPr>
          </a:p>
        </p:txBody>
      </p:sp>
      <p:sp>
        <p:nvSpPr>
          <p:cNvPr id="30" name="Google Shape;30;p4"/>
          <p:cNvSpPr txBox="1"/>
          <p:nvPr/>
        </p:nvSpPr>
        <p:spPr>
          <a:xfrm>
            <a:off x="548640" y="932688"/>
            <a:ext cx="110642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Lớp học đông, công việc nội bộ nhiều – phương pháp truyền thống đang quá tải.</a:t>
            </a:r>
            <a:endParaRPr lang="vi-VN" sz="1600" b="0" i="0" u="none" strike="noStrike" cap="none" noProof="0" dirty="0">
              <a:solidFill>
                <a:schemeClr val="dk1"/>
              </a:solidFill>
              <a:latin typeface="Calibri"/>
              <a:ea typeface="Calibri"/>
              <a:cs typeface="Calibri"/>
              <a:sym typeface="Calibri"/>
            </a:endParaRPr>
          </a:p>
        </p:txBody>
      </p:sp>
      <p:sp>
        <p:nvSpPr>
          <p:cNvPr id="31" name="Google Shape;31;p4"/>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32" name="Google Shape;32;p4"/>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500" b="0" i="0" u="none" strike="noStrike" cap="none" noProof="0" dirty="0">
                <a:solidFill>
                  <a:srgbClr val="718096"/>
                </a:solidFill>
                <a:latin typeface="Calibri"/>
                <a:ea typeface="Calibri"/>
                <a:cs typeface="Calibri"/>
                <a:sym typeface="Calibri"/>
              </a:rPr>
              <a:t>2</a:t>
            </a:r>
            <a:endParaRPr lang="vi-VN" sz="1500" b="0" i="0" u="none" strike="noStrike" cap="none" noProof="0" dirty="0">
              <a:solidFill>
                <a:schemeClr val="dk1"/>
              </a:solidFill>
              <a:latin typeface="Calibri"/>
              <a:ea typeface="Calibri"/>
              <a:cs typeface="Calibri"/>
              <a:sym typeface="Calibri"/>
            </a:endParaRPr>
          </a:p>
        </p:txBody>
      </p:sp>
      <p:sp>
        <p:nvSpPr>
          <p:cNvPr id="33" name="Google Shape;33;p4"/>
          <p:cNvSpPr/>
          <p:nvPr/>
        </p:nvSpPr>
        <p:spPr>
          <a:xfrm>
            <a:off x="548640" y="1563630"/>
            <a:ext cx="2834700" cy="3840600"/>
          </a:xfrm>
          <a:prstGeom prst="roundRect">
            <a:avLst>
              <a:gd name="adj" fmla="val 2581"/>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800" noProof="0" dirty="0"/>
          </a:p>
        </p:txBody>
      </p:sp>
      <p:sp>
        <p:nvSpPr>
          <p:cNvPr id="34" name="Google Shape;34;p4"/>
          <p:cNvSpPr txBox="1"/>
          <p:nvPr/>
        </p:nvSpPr>
        <p:spPr>
          <a:xfrm>
            <a:off x="548640" y="1920240"/>
            <a:ext cx="283464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22B8CF"/>
              </a:buClr>
              <a:buSzPts val="5400"/>
              <a:buFont typeface="Calibri"/>
              <a:buNone/>
            </a:pPr>
            <a:r>
              <a:rPr lang="vi-VN" sz="5900" b="1" i="0" u="none" strike="noStrike" cap="none" noProof="0" dirty="0">
                <a:solidFill>
                  <a:srgbClr val="22B8CF"/>
                </a:solidFill>
                <a:latin typeface="Calibri"/>
                <a:ea typeface="Calibri"/>
                <a:cs typeface="Calibri"/>
                <a:sym typeface="Calibri"/>
              </a:rPr>
              <a:t>35–50</a:t>
            </a:r>
            <a:endParaRPr lang="vi-VN" sz="5900" b="0" i="0" u="none" strike="noStrike" cap="none" noProof="0" dirty="0">
              <a:solidFill>
                <a:schemeClr val="dk1"/>
              </a:solidFill>
              <a:latin typeface="Calibri"/>
              <a:ea typeface="Calibri"/>
              <a:cs typeface="Calibri"/>
              <a:sym typeface="Calibri"/>
            </a:endParaRPr>
          </a:p>
        </p:txBody>
      </p:sp>
      <p:sp>
        <p:nvSpPr>
          <p:cNvPr id="35" name="Google Shape;35;p4"/>
          <p:cNvSpPr txBox="1"/>
          <p:nvPr/>
        </p:nvSpPr>
        <p:spPr>
          <a:xfrm>
            <a:off x="548640" y="2880360"/>
            <a:ext cx="2834640" cy="3657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FFFFFF"/>
              </a:buClr>
              <a:buSzPts val="1600"/>
              <a:buFont typeface="Calibri"/>
              <a:buNone/>
            </a:pPr>
            <a:r>
              <a:rPr lang="vi-VN" sz="2100" b="0" i="0" u="none" strike="noStrike" cap="none" noProof="0" dirty="0">
                <a:solidFill>
                  <a:srgbClr val="FFFFFF"/>
                </a:solidFill>
                <a:latin typeface="Calibri"/>
                <a:ea typeface="Calibri"/>
                <a:cs typeface="Calibri"/>
                <a:sym typeface="Calibri"/>
              </a:rPr>
              <a:t>học sinh mỗi lớp</a:t>
            </a:r>
            <a:endParaRPr lang="vi-VN" sz="2100" b="0" i="0" u="none" strike="noStrike" cap="none" noProof="0" dirty="0">
              <a:solidFill>
                <a:schemeClr val="dk1"/>
              </a:solidFill>
              <a:latin typeface="Calibri"/>
              <a:ea typeface="Calibri"/>
              <a:cs typeface="Calibri"/>
              <a:sym typeface="Calibri"/>
            </a:endParaRPr>
          </a:p>
        </p:txBody>
      </p:sp>
      <p:sp>
        <p:nvSpPr>
          <p:cNvPr id="36" name="Google Shape;36;p4"/>
          <p:cNvSpPr txBox="1"/>
          <p:nvPr/>
        </p:nvSpPr>
        <p:spPr>
          <a:xfrm>
            <a:off x="868680" y="3566160"/>
            <a:ext cx="2194560" cy="12801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CDEBFF"/>
              </a:buClr>
              <a:buSzPts val="1400"/>
              <a:buFont typeface="Calibri"/>
              <a:buNone/>
            </a:pPr>
            <a:r>
              <a:rPr lang="vi-VN" sz="1900" b="0" i="0" u="none" strike="noStrike" cap="none" noProof="0" dirty="0">
                <a:solidFill>
                  <a:srgbClr val="CDEBFF"/>
                </a:solidFill>
                <a:latin typeface="Calibri"/>
                <a:ea typeface="Calibri"/>
                <a:cs typeface="Calibri"/>
                <a:sym typeface="Calibri"/>
              </a:rPr>
              <a:t>chỉ có 1 GVCN và 3–4 cán sự để nắm bắt tình hình chung của cả lớp</a:t>
            </a:r>
            <a:endParaRPr lang="vi-VN" sz="1900" b="0" i="0" u="none" strike="noStrike" cap="none" noProof="0" dirty="0">
              <a:solidFill>
                <a:schemeClr val="dk1"/>
              </a:solidFill>
              <a:latin typeface="Calibri"/>
              <a:ea typeface="Calibri"/>
              <a:cs typeface="Calibri"/>
              <a:sym typeface="Calibri"/>
            </a:endParaRPr>
          </a:p>
        </p:txBody>
      </p:sp>
      <p:sp>
        <p:nvSpPr>
          <p:cNvPr id="37" name="Google Shape;37;p4"/>
          <p:cNvSpPr/>
          <p:nvPr/>
        </p:nvSpPr>
        <p:spPr>
          <a:xfrm>
            <a:off x="3657600" y="1554480"/>
            <a:ext cx="384048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38" name="Google Shape;38;p4"/>
          <p:cNvSpPr/>
          <p:nvPr/>
        </p:nvSpPr>
        <p:spPr>
          <a:xfrm>
            <a:off x="3840480" y="1737360"/>
            <a:ext cx="457200" cy="457200"/>
          </a:xfrm>
          <a:prstGeom prst="ellipse">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39" name="Google Shape;39;p4"/>
          <p:cNvSpPr txBox="1"/>
          <p:nvPr/>
        </p:nvSpPr>
        <p:spPr>
          <a:xfrm>
            <a:off x="3840480" y="17373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2000" b="1" i="0" u="none" strike="noStrike" cap="none" noProof="0" dirty="0">
                <a:solidFill>
                  <a:srgbClr val="FFFFFF"/>
                </a:solidFill>
                <a:latin typeface="Calibri"/>
                <a:ea typeface="Calibri"/>
                <a:cs typeface="Calibri"/>
                <a:sym typeface="Calibri"/>
              </a:rPr>
              <a:t>!</a:t>
            </a:r>
            <a:endParaRPr lang="vi-VN" sz="2000" b="0" i="0" u="none" strike="noStrike" cap="none" noProof="0" dirty="0">
              <a:solidFill>
                <a:schemeClr val="dk1"/>
              </a:solidFill>
              <a:latin typeface="Calibri"/>
              <a:ea typeface="Calibri"/>
              <a:cs typeface="Calibri"/>
              <a:sym typeface="Calibri"/>
            </a:endParaRPr>
          </a:p>
        </p:txBody>
      </p:sp>
      <p:sp>
        <p:nvSpPr>
          <p:cNvPr id="40" name="Google Shape;40;p4"/>
          <p:cNvSpPr txBox="1"/>
          <p:nvPr/>
        </p:nvSpPr>
        <p:spPr>
          <a:xfrm>
            <a:off x="4434840" y="1737360"/>
            <a:ext cx="28803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500"/>
              <a:buFont typeface="Calibri"/>
              <a:buNone/>
            </a:pPr>
            <a:r>
              <a:rPr lang="vi-VN" sz="2000" b="1" i="0" u="none" strike="noStrike" cap="none" noProof="0" dirty="0">
                <a:solidFill>
                  <a:srgbClr val="102A43"/>
                </a:solidFill>
                <a:latin typeface="Calibri"/>
                <a:ea typeface="Calibri"/>
                <a:cs typeface="Calibri"/>
                <a:sym typeface="Calibri"/>
              </a:rPr>
              <a:t>Thông tin phân tán</a:t>
            </a:r>
            <a:endParaRPr lang="vi-VN" sz="2000" b="0" i="0" u="none" strike="noStrike" cap="none" noProof="0" dirty="0">
              <a:solidFill>
                <a:schemeClr val="dk1"/>
              </a:solidFill>
              <a:latin typeface="Calibri"/>
              <a:ea typeface="Calibri"/>
              <a:cs typeface="Calibri"/>
              <a:sym typeface="Calibri"/>
            </a:endParaRPr>
          </a:p>
        </p:txBody>
      </p:sp>
      <p:sp>
        <p:nvSpPr>
          <p:cNvPr id="41" name="Google Shape;41;p4"/>
          <p:cNvSpPr txBox="1"/>
          <p:nvPr/>
        </p:nvSpPr>
        <p:spPr>
          <a:xfrm>
            <a:off x="3840475" y="2304300"/>
            <a:ext cx="3180300" cy="91440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333333"/>
              </a:buClr>
              <a:buSzPts val="1200"/>
              <a:buFont typeface="Calibri"/>
              <a:buNone/>
            </a:pPr>
            <a:r>
              <a:rPr lang="vi-VN" sz="1700" b="0" i="0" u="none" strike="noStrike" cap="none" noProof="0" dirty="0">
                <a:solidFill>
                  <a:srgbClr val="333333"/>
                </a:solidFill>
                <a:latin typeface="Calibri"/>
                <a:ea typeface="Calibri"/>
                <a:cs typeface="Calibri"/>
                <a:sym typeface="Calibri"/>
              </a:rPr>
              <a:t>Thông báo rải rác nhiều nhóm </a:t>
            </a:r>
            <a:r>
              <a:rPr lang="vi-VN" sz="1700" b="0" i="0" u="none" strike="noStrike" cap="none" noProof="0" dirty="0" err="1">
                <a:solidFill>
                  <a:srgbClr val="333333"/>
                </a:solidFill>
                <a:latin typeface="Calibri"/>
                <a:ea typeface="Calibri"/>
                <a:cs typeface="Calibri"/>
                <a:sym typeface="Calibri"/>
              </a:rPr>
              <a:t>chat</a:t>
            </a:r>
            <a:r>
              <a:rPr lang="vi-VN" sz="1700" b="0" i="0" u="none" strike="noStrike" cap="none" noProof="0" dirty="0">
                <a:solidFill>
                  <a:srgbClr val="333333"/>
                </a:solidFill>
                <a:latin typeface="Calibri"/>
                <a:ea typeface="Calibri"/>
                <a:cs typeface="Calibri"/>
                <a:sym typeface="Calibri"/>
              </a:rPr>
              <a:t>, dễ trôi tin; học sinh bỏ sót lịch kiểm tra, hạn nộp.</a:t>
            </a:r>
            <a:endParaRPr lang="vi-VN" sz="1700" b="0" i="0" u="none" strike="noStrike" cap="none" noProof="0" dirty="0">
              <a:solidFill>
                <a:schemeClr val="dk1"/>
              </a:solidFill>
              <a:latin typeface="Calibri"/>
              <a:ea typeface="Calibri"/>
              <a:cs typeface="Calibri"/>
              <a:sym typeface="Calibri"/>
            </a:endParaRPr>
          </a:p>
        </p:txBody>
      </p:sp>
      <p:sp>
        <p:nvSpPr>
          <p:cNvPr id="42" name="Google Shape;42;p4"/>
          <p:cNvSpPr/>
          <p:nvPr/>
        </p:nvSpPr>
        <p:spPr>
          <a:xfrm>
            <a:off x="7772400" y="1554480"/>
            <a:ext cx="384048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43" name="Google Shape;43;p4"/>
          <p:cNvSpPr/>
          <p:nvPr/>
        </p:nvSpPr>
        <p:spPr>
          <a:xfrm>
            <a:off x="7955280" y="1737360"/>
            <a:ext cx="457200" cy="4572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44" name="Google Shape;44;p4"/>
          <p:cNvSpPr txBox="1"/>
          <p:nvPr/>
        </p:nvSpPr>
        <p:spPr>
          <a:xfrm>
            <a:off x="7955280" y="17373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2000" b="1" i="0" u="none" strike="noStrike" cap="none" noProof="0" dirty="0">
                <a:solidFill>
                  <a:srgbClr val="FFFFFF"/>
                </a:solidFill>
                <a:latin typeface="Calibri"/>
                <a:ea typeface="Calibri"/>
                <a:cs typeface="Calibri"/>
                <a:sym typeface="Calibri"/>
              </a:rPr>
              <a:t>≠</a:t>
            </a:r>
            <a:endParaRPr lang="vi-VN" sz="2000" b="0" i="0" u="none" strike="noStrike" cap="none" noProof="0" dirty="0">
              <a:solidFill>
                <a:schemeClr val="dk1"/>
              </a:solidFill>
              <a:latin typeface="Calibri"/>
              <a:ea typeface="Calibri"/>
              <a:cs typeface="Calibri"/>
              <a:sym typeface="Calibri"/>
            </a:endParaRPr>
          </a:p>
        </p:txBody>
      </p:sp>
      <p:sp>
        <p:nvSpPr>
          <p:cNvPr id="45" name="Google Shape;45;p4"/>
          <p:cNvSpPr txBox="1"/>
          <p:nvPr/>
        </p:nvSpPr>
        <p:spPr>
          <a:xfrm>
            <a:off x="8549640" y="1737360"/>
            <a:ext cx="28803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500"/>
              <a:buFont typeface="Calibri"/>
              <a:buNone/>
            </a:pPr>
            <a:r>
              <a:rPr lang="vi-VN" sz="1950" b="1" i="0" u="none" strike="noStrike" cap="none" noProof="0" dirty="0">
                <a:solidFill>
                  <a:srgbClr val="102A43"/>
                </a:solidFill>
                <a:latin typeface="Calibri"/>
                <a:ea typeface="Calibri"/>
                <a:cs typeface="Calibri"/>
                <a:sym typeface="Calibri"/>
              </a:rPr>
              <a:t>Thiếu công bằng, minh bạch</a:t>
            </a:r>
            <a:endParaRPr lang="vi-VN" sz="1950" b="0" i="0" u="none" strike="noStrike" cap="none" noProof="0" dirty="0">
              <a:solidFill>
                <a:schemeClr val="dk1"/>
              </a:solidFill>
              <a:latin typeface="Calibri"/>
              <a:ea typeface="Calibri"/>
              <a:cs typeface="Calibri"/>
              <a:sym typeface="Calibri"/>
            </a:endParaRPr>
          </a:p>
        </p:txBody>
      </p:sp>
      <p:sp>
        <p:nvSpPr>
          <p:cNvPr id="46" name="Google Shape;46;p4"/>
          <p:cNvSpPr txBox="1"/>
          <p:nvPr/>
        </p:nvSpPr>
        <p:spPr>
          <a:xfrm>
            <a:off x="7955280" y="2304288"/>
            <a:ext cx="34747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700" b="0" i="0" u="none" strike="noStrike" cap="none" noProof="0" dirty="0">
                <a:solidFill>
                  <a:srgbClr val="333333"/>
                </a:solidFill>
                <a:latin typeface="Calibri"/>
                <a:ea typeface="Calibri"/>
                <a:cs typeface="Calibri"/>
                <a:sym typeface="Calibri"/>
              </a:rPr>
              <a:t>Xếp chỗ, chia nhóm, trực nhật theo cảm tính; bầu cử giơ tay/phiếu giấy khó bí mật.</a:t>
            </a:r>
            <a:endParaRPr lang="vi-VN" sz="1700" b="0" i="0" u="none" strike="noStrike" cap="none" noProof="0" dirty="0">
              <a:solidFill>
                <a:schemeClr val="dk1"/>
              </a:solidFill>
              <a:latin typeface="Calibri"/>
              <a:ea typeface="Calibri"/>
              <a:cs typeface="Calibri"/>
              <a:sym typeface="Calibri"/>
            </a:endParaRPr>
          </a:p>
        </p:txBody>
      </p:sp>
      <p:sp>
        <p:nvSpPr>
          <p:cNvPr id="47" name="Google Shape;47;p4"/>
          <p:cNvSpPr/>
          <p:nvPr/>
        </p:nvSpPr>
        <p:spPr>
          <a:xfrm>
            <a:off x="3657600" y="3611880"/>
            <a:ext cx="384048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48" name="Google Shape;48;p4"/>
          <p:cNvSpPr/>
          <p:nvPr/>
        </p:nvSpPr>
        <p:spPr>
          <a:xfrm>
            <a:off x="3840480" y="3794760"/>
            <a:ext cx="457200" cy="4572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49" name="Google Shape;49;p4"/>
          <p:cNvSpPr txBox="1"/>
          <p:nvPr/>
        </p:nvSpPr>
        <p:spPr>
          <a:xfrm>
            <a:off x="3840480" y="37947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2000" b="1" i="0" u="none" strike="noStrike" cap="none" noProof="0" dirty="0">
                <a:solidFill>
                  <a:srgbClr val="FFFFFF"/>
                </a:solidFill>
                <a:latin typeface="Calibri"/>
                <a:ea typeface="Calibri"/>
                <a:cs typeface="Calibri"/>
                <a:sym typeface="Calibri"/>
              </a:rPr>
              <a:t>⏱</a:t>
            </a:r>
            <a:endParaRPr lang="vi-VN" sz="2000" b="0" i="0" u="none" strike="noStrike" cap="none" noProof="0" dirty="0">
              <a:solidFill>
                <a:schemeClr val="dk1"/>
              </a:solidFill>
              <a:latin typeface="Calibri"/>
              <a:ea typeface="Calibri"/>
              <a:cs typeface="Calibri"/>
              <a:sym typeface="Calibri"/>
            </a:endParaRPr>
          </a:p>
        </p:txBody>
      </p:sp>
      <p:sp>
        <p:nvSpPr>
          <p:cNvPr id="50" name="Google Shape;50;p4"/>
          <p:cNvSpPr txBox="1"/>
          <p:nvPr/>
        </p:nvSpPr>
        <p:spPr>
          <a:xfrm>
            <a:off x="4434840" y="3794760"/>
            <a:ext cx="28803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500"/>
              <a:buFont typeface="Calibri"/>
              <a:buNone/>
            </a:pPr>
            <a:r>
              <a:rPr lang="vi-VN" sz="2000" b="1" i="0" u="none" strike="noStrike" cap="none" noProof="0" dirty="0">
                <a:solidFill>
                  <a:srgbClr val="102A43"/>
                </a:solidFill>
                <a:latin typeface="Calibri"/>
                <a:ea typeface="Calibri"/>
                <a:cs typeface="Calibri"/>
                <a:sym typeface="Calibri"/>
              </a:rPr>
              <a:t>Tốn thời gian, công sức</a:t>
            </a:r>
            <a:endParaRPr lang="vi-VN" sz="2000" b="0" i="0" u="none" strike="noStrike" cap="none" noProof="0" dirty="0">
              <a:solidFill>
                <a:schemeClr val="dk1"/>
              </a:solidFill>
              <a:latin typeface="Calibri"/>
              <a:ea typeface="Calibri"/>
              <a:cs typeface="Calibri"/>
              <a:sym typeface="Calibri"/>
            </a:endParaRPr>
          </a:p>
        </p:txBody>
      </p:sp>
      <p:sp>
        <p:nvSpPr>
          <p:cNvPr id="51" name="Google Shape;51;p4"/>
          <p:cNvSpPr txBox="1"/>
          <p:nvPr/>
        </p:nvSpPr>
        <p:spPr>
          <a:xfrm>
            <a:off x="3840480" y="4361688"/>
            <a:ext cx="34747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700" b="0" i="0" u="none" strike="noStrike" cap="none" noProof="0" dirty="0">
                <a:solidFill>
                  <a:srgbClr val="333333"/>
                </a:solidFill>
                <a:latin typeface="Calibri"/>
                <a:ea typeface="Calibri"/>
                <a:cs typeface="Calibri"/>
                <a:sym typeface="Calibri"/>
              </a:rPr>
              <a:t>Cán sự lặp lại thủ công mỗi tuần: lập lịch trực, tổng hợp việc, chia nhóm.</a:t>
            </a:r>
            <a:endParaRPr lang="vi-VN" sz="1700" b="0" i="0" u="none" strike="noStrike" cap="none" noProof="0" dirty="0">
              <a:solidFill>
                <a:schemeClr val="dk1"/>
              </a:solidFill>
              <a:latin typeface="Calibri"/>
              <a:ea typeface="Calibri"/>
              <a:cs typeface="Calibri"/>
              <a:sym typeface="Calibri"/>
            </a:endParaRPr>
          </a:p>
        </p:txBody>
      </p:sp>
      <p:sp>
        <p:nvSpPr>
          <p:cNvPr id="52" name="Google Shape;52;p4"/>
          <p:cNvSpPr/>
          <p:nvPr/>
        </p:nvSpPr>
        <p:spPr>
          <a:xfrm>
            <a:off x="7772400" y="3611880"/>
            <a:ext cx="384048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53" name="Google Shape;53;p4"/>
          <p:cNvSpPr/>
          <p:nvPr/>
        </p:nvSpPr>
        <p:spPr>
          <a:xfrm>
            <a:off x="7955280" y="3794760"/>
            <a:ext cx="457200" cy="457200"/>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54" name="Google Shape;54;p4"/>
          <p:cNvSpPr txBox="1"/>
          <p:nvPr/>
        </p:nvSpPr>
        <p:spPr>
          <a:xfrm>
            <a:off x="7955280" y="37947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2000" b="1" i="0" u="none" strike="noStrike" cap="none" noProof="0" dirty="0">
                <a:solidFill>
                  <a:srgbClr val="FFFFFF"/>
                </a:solidFill>
                <a:latin typeface="Calibri"/>
                <a:ea typeface="Calibri"/>
                <a:cs typeface="Calibri"/>
                <a:sym typeface="Calibri"/>
              </a:rPr>
              <a:t>▤</a:t>
            </a:r>
            <a:endParaRPr lang="vi-VN" sz="2000" b="0" i="0" u="none" strike="noStrike" cap="none" noProof="0" dirty="0">
              <a:solidFill>
                <a:schemeClr val="dk1"/>
              </a:solidFill>
              <a:latin typeface="Calibri"/>
              <a:ea typeface="Calibri"/>
              <a:cs typeface="Calibri"/>
              <a:sym typeface="Calibri"/>
            </a:endParaRPr>
          </a:p>
        </p:txBody>
      </p:sp>
      <p:sp>
        <p:nvSpPr>
          <p:cNvPr id="55" name="Google Shape;55;p4"/>
          <p:cNvSpPr txBox="1"/>
          <p:nvPr/>
        </p:nvSpPr>
        <p:spPr>
          <a:xfrm>
            <a:off x="8549640" y="3794760"/>
            <a:ext cx="28803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500"/>
              <a:buFont typeface="Calibri"/>
              <a:buNone/>
            </a:pPr>
            <a:r>
              <a:rPr lang="vi-VN" sz="2000" b="1" i="0" u="none" strike="noStrike" cap="none" noProof="0" dirty="0">
                <a:solidFill>
                  <a:srgbClr val="102A43"/>
                </a:solidFill>
                <a:latin typeface="Calibri"/>
                <a:ea typeface="Calibri"/>
                <a:cs typeface="Calibri"/>
                <a:sym typeface="Calibri"/>
              </a:rPr>
              <a:t>Không lưu được lịch sử</a:t>
            </a:r>
            <a:endParaRPr lang="vi-VN" sz="2000" b="0" i="0" u="none" strike="noStrike" cap="none" noProof="0" dirty="0">
              <a:solidFill>
                <a:schemeClr val="dk1"/>
              </a:solidFill>
              <a:latin typeface="Calibri"/>
              <a:ea typeface="Calibri"/>
              <a:cs typeface="Calibri"/>
              <a:sym typeface="Calibri"/>
            </a:endParaRPr>
          </a:p>
        </p:txBody>
      </p:sp>
      <p:sp>
        <p:nvSpPr>
          <p:cNvPr id="56" name="Google Shape;56;p4"/>
          <p:cNvSpPr txBox="1"/>
          <p:nvPr/>
        </p:nvSpPr>
        <p:spPr>
          <a:xfrm>
            <a:off x="7955280" y="4361688"/>
            <a:ext cx="34747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700" b="0" i="0" u="none" strike="noStrike" cap="none" noProof="0" dirty="0">
                <a:solidFill>
                  <a:srgbClr val="333333"/>
                </a:solidFill>
                <a:latin typeface="Calibri"/>
                <a:ea typeface="Calibri"/>
                <a:cs typeface="Calibri"/>
                <a:sym typeface="Calibri"/>
              </a:rPr>
              <a:t>Nhóm học tập, lịch trực, kết quả thi đua không được lưu để tra cứu, rút kinh nghiệm.</a:t>
            </a:r>
            <a:endParaRPr lang="vi-VN" sz="1700" b="0" i="0" u="none" strike="noStrike" cap="none" noProof="0" dirty="0">
              <a:solidFill>
                <a:schemeClr val="dk1"/>
              </a:solidFill>
              <a:latin typeface="Calibri"/>
              <a:ea typeface="Calibri"/>
              <a:cs typeface="Calibri"/>
              <a:sym typeface="Calibri"/>
            </a:endParaRPr>
          </a:p>
        </p:txBody>
      </p:sp>
      <p:sp>
        <p:nvSpPr>
          <p:cNvPr id="57" name="Google Shape;57;p4"/>
          <p:cNvSpPr/>
          <p:nvPr/>
        </p:nvSpPr>
        <p:spPr>
          <a:xfrm>
            <a:off x="548640" y="5669280"/>
            <a:ext cx="11091672" cy="548640"/>
          </a:xfrm>
          <a:prstGeom prst="roundRect">
            <a:avLst>
              <a:gd name="adj" fmla="val 16667"/>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900" noProof="0" dirty="0"/>
          </a:p>
        </p:txBody>
      </p:sp>
      <p:sp>
        <p:nvSpPr>
          <p:cNvPr id="58" name="Google Shape;58;p4"/>
          <p:cNvSpPr txBox="1"/>
          <p:nvPr/>
        </p:nvSpPr>
        <p:spPr>
          <a:xfrm>
            <a:off x="731520" y="5669280"/>
            <a:ext cx="1072591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400"/>
              <a:buFont typeface="Calibri"/>
              <a:buNone/>
            </a:pPr>
            <a:r>
              <a:rPr lang="vi-VN" sz="1900" b="1" i="0" u="none" strike="noStrike" cap="none" noProof="0" dirty="0">
                <a:solidFill>
                  <a:srgbClr val="0B1F3A"/>
                </a:solidFill>
                <a:latin typeface="Calibri"/>
                <a:ea typeface="Calibri"/>
                <a:cs typeface="Calibri"/>
                <a:sym typeface="Calibri"/>
              </a:rPr>
              <a:t>Giải pháp: một hệ thống thông tin thống nhất – tự động hóa, minh bạch, lưu trữ có hệ thống.</a:t>
            </a:r>
            <a:endParaRPr lang="vi-VN" sz="19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63"/>
        <p:cNvGrpSpPr/>
        <p:nvPr/>
      </p:nvGrpSpPr>
      <p:grpSpPr>
        <a:xfrm>
          <a:off x="0" y="0"/>
          <a:ext cx="0" cy="0"/>
          <a:chOff x="0" y="0"/>
          <a:chExt cx="0" cy="0"/>
        </a:xfrm>
      </p:grpSpPr>
      <p:sp>
        <p:nvSpPr>
          <p:cNvPr id="64" name="Google Shape;64;p5"/>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2. Câu hỏi và mục tiêu nghiên cứu</a:t>
            </a:r>
            <a:endParaRPr lang="vi-VN" sz="3000" b="0" i="0" u="none" strike="noStrike" cap="none" noProof="0" dirty="0">
              <a:solidFill>
                <a:schemeClr val="dk1"/>
              </a:solidFill>
              <a:latin typeface="Calibri"/>
              <a:ea typeface="Calibri"/>
              <a:cs typeface="Calibri"/>
              <a:sym typeface="Calibri"/>
            </a:endParaRPr>
          </a:p>
        </p:txBody>
      </p:sp>
      <p:sp>
        <p:nvSpPr>
          <p:cNvPr id="65" name="Google Shape;65;p5"/>
          <p:cNvSpPr txBox="1"/>
          <p:nvPr/>
        </p:nvSpPr>
        <p:spPr>
          <a:xfrm>
            <a:off x="548640" y="932688"/>
            <a:ext cx="110643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Từ những bất cập thực tế đến một ứng dụng </a:t>
            </a:r>
            <a:r>
              <a:rPr lang="vi-VN" sz="1600" b="1" i="0" u="none" strike="noStrike" cap="none" noProof="0" dirty="0" err="1">
                <a:solidFill>
                  <a:srgbClr val="1E72B8"/>
                </a:solidFill>
                <a:latin typeface="Calibri"/>
                <a:ea typeface="Calibri"/>
                <a:cs typeface="Calibri"/>
                <a:sym typeface="Calibri"/>
              </a:rPr>
              <a:t>web</a:t>
            </a:r>
            <a:r>
              <a:rPr lang="vi-VN" sz="1600" b="1" i="0" u="none" strike="noStrike" cap="none" noProof="0" dirty="0">
                <a:solidFill>
                  <a:srgbClr val="1E72B8"/>
                </a:solidFill>
                <a:latin typeface="Calibri"/>
                <a:ea typeface="Calibri"/>
                <a:cs typeface="Calibri"/>
                <a:sym typeface="Calibri"/>
              </a:rPr>
              <a:t> miễn phí, chạy trên máy tính và điện thoại.</a:t>
            </a:r>
            <a:endParaRPr lang="vi-VN" sz="1600" b="0" i="0" u="none" strike="noStrike" cap="none" noProof="0" dirty="0">
              <a:solidFill>
                <a:schemeClr val="dk1"/>
              </a:solidFill>
              <a:latin typeface="Calibri"/>
              <a:ea typeface="Calibri"/>
              <a:cs typeface="Calibri"/>
              <a:sym typeface="Calibri"/>
            </a:endParaRPr>
          </a:p>
        </p:txBody>
      </p:sp>
      <p:sp>
        <p:nvSpPr>
          <p:cNvPr id="66" name="Google Shape;66;p5"/>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67" name="Google Shape;67;p5"/>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3</a:t>
            </a:r>
            <a:endParaRPr lang="vi-VN" sz="1300" b="0" i="0" u="none" strike="noStrike" cap="none" noProof="0" dirty="0">
              <a:solidFill>
                <a:schemeClr val="dk1"/>
              </a:solidFill>
              <a:latin typeface="Calibri"/>
              <a:ea typeface="Calibri"/>
              <a:cs typeface="Calibri"/>
              <a:sym typeface="Calibri"/>
            </a:endParaRPr>
          </a:p>
        </p:txBody>
      </p:sp>
      <p:sp>
        <p:nvSpPr>
          <p:cNvPr id="68" name="Google Shape;68;p5"/>
          <p:cNvSpPr/>
          <p:nvPr/>
        </p:nvSpPr>
        <p:spPr>
          <a:xfrm>
            <a:off x="548640" y="1554480"/>
            <a:ext cx="5486400" cy="777240"/>
          </a:xfrm>
          <a:prstGeom prst="roundRect">
            <a:avLst>
              <a:gd name="adj" fmla="val 9412"/>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69" name="Google Shape;69;p5"/>
          <p:cNvSpPr/>
          <p:nvPr/>
        </p:nvSpPr>
        <p:spPr>
          <a:xfrm>
            <a:off x="731520" y="1719072"/>
            <a:ext cx="438912" cy="438912"/>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70" name="Google Shape;70;p5"/>
          <p:cNvSpPr txBox="1"/>
          <p:nvPr/>
        </p:nvSpPr>
        <p:spPr>
          <a:xfrm>
            <a:off x="731520" y="1719072"/>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1</a:t>
            </a:r>
            <a:endParaRPr lang="vi-VN" sz="1700" b="0" i="0" u="none" strike="noStrike" cap="none" noProof="0" dirty="0">
              <a:solidFill>
                <a:schemeClr val="dk1"/>
              </a:solidFill>
              <a:latin typeface="Calibri"/>
              <a:ea typeface="Calibri"/>
              <a:cs typeface="Calibri"/>
              <a:sym typeface="Calibri"/>
            </a:endParaRPr>
          </a:p>
        </p:txBody>
      </p:sp>
      <p:sp>
        <p:nvSpPr>
          <p:cNvPr id="71" name="Google Shape;71;p5"/>
          <p:cNvSpPr txBox="1"/>
          <p:nvPr/>
        </p:nvSpPr>
        <p:spPr>
          <a:xfrm>
            <a:off x="1325880" y="1554480"/>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00"/>
              <a:buFont typeface="Calibri"/>
              <a:buNone/>
            </a:pPr>
            <a:r>
              <a:rPr lang="vi-VN" sz="1600" b="1" i="0" u="none" strike="noStrike" cap="none" noProof="0" dirty="0">
                <a:solidFill>
                  <a:srgbClr val="102A43"/>
                </a:solidFill>
                <a:latin typeface="Calibri"/>
                <a:ea typeface="Calibri"/>
                <a:cs typeface="Calibri"/>
                <a:sym typeface="Calibri"/>
              </a:rPr>
              <a:t>Khó khăn trong quản lý lớp đông học sinh hiện nay là gì?</a:t>
            </a:r>
            <a:endParaRPr lang="vi-VN" sz="1600" b="0" i="0" u="none" strike="noStrike" cap="none" noProof="0" dirty="0">
              <a:solidFill>
                <a:schemeClr val="dk1"/>
              </a:solidFill>
              <a:latin typeface="Calibri"/>
              <a:ea typeface="Calibri"/>
              <a:cs typeface="Calibri"/>
              <a:sym typeface="Calibri"/>
            </a:endParaRPr>
          </a:p>
        </p:txBody>
      </p:sp>
      <p:sp>
        <p:nvSpPr>
          <p:cNvPr id="72" name="Google Shape;72;p5"/>
          <p:cNvSpPr/>
          <p:nvPr/>
        </p:nvSpPr>
        <p:spPr>
          <a:xfrm>
            <a:off x="548640" y="2441448"/>
            <a:ext cx="5486400" cy="777240"/>
          </a:xfrm>
          <a:prstGeom prst="roundRect">
            <a:avLst>
              <a:gd name="adj" fmla="val 9412"/>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73" name="Google Shape;73;p5"/>
          <p:cNvSpPr/>
          <p:nvPr/>
        </p:nvSpPr>
        <p:spPr>
          <a:xfrm>
            <a:off x="731520" y="2606040"/>
            <a:ext cx="438912" cy="438912"/>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74" name="Google Shape;74;p5"/>
          <p:cNvSpPr txBox="1"/>
          <p:nvPr/>
        </p:nvSpPr>
        <p:spPr>
          <a:xfrm>
            <a:off x="731520" y="2606040"/>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2</a:t>
            </a:r>
            <a:endParaRPr lang="vi-VN" sz="1700" b="0" i="0" u="none" strike="noStrike" cap="none" noProof="0" dirty="0">
              <a:solidFill>
                <a:schemeClr val="dk1"/>
              </a:solidFill>
              <a:latin typeface="Calibri"/>
              <a:ea typeface="Calibri"/>
              <a:cs typeface="Calibri"/>
              <a:sym typeface="Calibri"/>
            </a:endParaRPr>
          </a:p>
        </p:txBody>
      </p:sp>
      <p:sp>
        <p:nvSpPr>
          <p:cNvPr id="75" name="Google Shape;75;p5"/>
          <p:cNvSpPr txBox="1"/>
          <p:nvPr/>
        </p:nvSpPr>
        <p:spPr>
          <a:xfrm>
            <a:off x="1325880" y="2441448"/>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00"/>
              <a:buFont typeface="Calibri"/>
              <a:buNone/>
            </a:pPr>
            <a:r>
              <a:rPr lang="vi-VN" sz="1600" b="1" i="0" u="none" strike="noStrike" cap="none" noProof="0" dirty="0">
                <a:solidFill>
                  <a:srgbClr val="102A43"/>
                </a:solidFill>
                <a:latin typeface="Calibri"/>
                <a:ea typeface="Calibri"/>
                <a:cs typeface="Calibri"/>
                <a:sym typeface="Calibri"/>
              </a:rPr>
              <a:t>Công việc nội bộ nào có thể số hóa và tự động hóa?</a:t>
            </a:r>
            <a:endParaRPr lang="vi-VN" sz="1600" b="0" i="0" u="none" strike="noStrike" cap="none" noProof="0" dirty="0">
              <a:solidFill>
                <a:schemeClr val="dk1"/>
              </a:solidFill>
              <a:latin typeface="Calibri"/>
              <a:ea typeface="Calibri"/>
              <a:cs typeface="Calibri"/>
              <a:sym typeface="Calibri"/>
            </a:endParaRPr>
          </a:p>
        </p:txBody>
      </p:sp>
      <p:sp>
        <p:nvSpPr>
          <p:cNvPr id="76" name="Google Shape;76;p5"/>
          <p:cNvSpPr/>
          <p:nvPr/>
        </p:nvSpPr>
        <p:spPr>
          <a:xfrm>
            <a:off x="548640" y="3328416"/>
            <a:ext cx="5486400" cy="777240"/>
          </a:xfrm>
          <a:prstGeom prst="roundRect">
            <a:avLst>
              <a:gd name="adj" fmla="val 9412"/>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77" name="Google Shape;77;p5"/>
          <p:cNvSpPr/>
          <p:nvPr/>
        </p:nvSpPr>
        <p:spPr>
          <a:xfrm>
            <a:off x="731520" y="3493008"/>
            <a:ext cx="438912" cy="438912"/>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78" name="Google Shape;78;p5"/>
          <p:cNvSpPr txBox="1"/>
          <p:nvPr/>
        </p:nvSpPr>
        <p:spPr>
          <a:xfrm>
            <a:off x="731520" y="349300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3</a:t>
            </a:r>
            <a:endParaRPr lang="vi-VN" sz="1700" b="0" i="0" u="none" strike="noStrike" cap="none" noProof="0" dirty="0">
              <a:solidFill>
                <a:schemeClr val="dk1"/>
              </a:solidFill>
              <a:latin typeface="Calibri"/>
              <a:ea typeface="Calibri"/>
              <a:cs typeface="Calibri"/>
              <a:sym typeface="Calibri"/>
            </a:endParaRPr>
          </a:p>
        </p:txBody>
      </p:sp>
      <p:sp>
        <p:nvSpPr>
          <p:cNvPr id="79" name="Google Shape;79;p5"/>
          <p:cNvSpPr txBox="1"/>
          <p:nvPr/>
        </p:nvSpPr>
        <p:spPr>
          <a:xfrm>
            <a:off x="1325880" y="3328416"/>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00"/>
              <a:buFont typeface="Calibri"/>
              <a:buNone/>
            </a:pPr>
            <a:r>
              <a:rPr lang="vi-VN" sz="1600" b="1" i="0" u="none" strike="noStrike" cap="none" noProof="0" dirty="0">
                <a:solidFill>
                  <a:srgbClr val="102A43"/>
                </a:solidFill>
                <a:latin typeface="Calibri"/>
                <a:ea typeface="Calibri"/>
                <a:cs typeface="Calibri"/>
                <a:sym typeface="Calibri"/>
              </a:rPr>
              <a:t>Làm sao đảm bảo công bằng, ngẫu nhiên, minh bạch?</a:t>
            </a:r>
            <a:endParaRPr lang="vi-VN" sz="1600" b="0" i="0" u="none" strike="noStrike" cap="none" noProof="0" dirty="0">
              <a:solidFill>
                <a:schemeClr val="dk1"/>
              </a:solidFill>
              <a:latin typeface="Calibri"/>
              <a:ea typeface="Calibri"/>
              <a:cs typeface="Calibri"/>
              <a:sym typeface="Calibri"/>
            </a:endParaRPr>
          </a:p>
        </p:txBody>
      </p:sp>
      <p:sp>
        <p:nvSpPr>
          <p:cNvPr id="80" name="Google Shape;80;p5"/>
          <p:cNvSpPr/>
          <p:nvPr/>
        </p:nvSpPr>
        <p:spPr>
          <a:xfrm>
            <a:off x="548640" y="4215384"/>
            <a:ext cx="5486400" cy="777240"/>
          </a:xfrm>
          <a:prstGeom prst="roundRect">
            <a:avLst>
              <a:gd name="adj" fmla="val 9412"/>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81" name="Google Shape;81;p5"/>
          <p:cNvSpPr/>
          <p:nvPr/>
        </p:nvSpPr>
        <p:spPr>
          <a:xfrm>
            <a:off x="731520" y="4379976"/>
            <a:ext cx="438912" cy="438912"/>
          </a:xfrm>
          <a:prstGeom prst="ellipse">
            <a:avLst/>
          </a:prstGeom>
          <a:solidFill>
            <a:srgbClr val="3ECF8E"/>
          </a:solidFill>
          <a:ln w="12700" cap="flat" cmpd="sng">
            <a:solidFill>
              <a:srgbClr val="3ECF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82" name="Google Shape;82;p5"/>
          <p:cNvSpPr txBox="1"/>
          <p:nvPr/>
        </p:nvSpPr>
        <p:spPr>
          <a:xfrm>
            <a:off x="731520" y="4379976"/>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4</a:t>
            </a:r>
            <a:endParaRPr lang="vi-VN" sz="1700" b="0" i="0" u="none" strike="noStrike" cap="none" noProof="0" dirty="0">
              <a:solidFill>
                <a:schemeClr val="dk1"/>
              </a:solidFill>
              <a:latin typeface="Calibri"/>
              <a:ea typeface="Calibri"/>
              <a:cs typeface="Calibri"/>
              <a:sym typeface="Calibri"/>
            </a:endParaRPr>
          </a:p>
        </p:txBody>
      </p:sp>
      <p:sp>
        <p:nvSpPr>
          <p:cNvPr id="83" name="Google Shape;83;p5"/>
          <p:cNvSpPr txBox="1"/>
          <p:nvPr/>
        </p:nvSpPr>
        <p:spPr>
          <a:xfrm>
            <a:off x="1325880" y="4215384"/>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00"/>
              <a:buFont typeface="Calibri"/>
              <a:buNone/>
            </a:pPr>
            <a:r>
              <a:rPr lang="vi-VN" sz="1600" b="1" i="0" u="none" strike="noStrike" cap="none" noProof="0" dirty="0">
                <a:solidFill>
                  <a:srgbClr val="102A43"/>
                </a:solidFill>
                <a:latin typeface="Calibri"/>
                <a:ea typeface="Calibri"/>
                <a:cs typeface="Calibri"/>
                <a:sym typeface="Calibri"/>
              </a:rPr>
              <a:t>Làm sao mọi người nắm lịch, hạn nộp mà không quá tải?</a:t>
            </a:r>
            <a:endParaRPr lang="vi-VN" sz="1600" b="0" i="0" u="none" strike="noStrike" cap="none" noProof="0" dirty="0">
              <a:solidFill>
                <a:schemeClr val="dk1"/>
              </a:solidFill>
              <a:latin typeface="Calibri"/>
              <a:ea typeface="Calibri"/>
              <a:cs typeface="Calibri"/>
              <a:sym typeface="Calibri"/>
            </a:endParaRPr>
          </a:p>
        </p:txBody>
      </p:sp>
      <p:sp>
        <p:nvSpPr>
          <p:cNvPr id="84" name="Google Shape;84;p5"/>
          <p:cNvSpPr/>
          <p:nvPr/>
        </p:nvSpPr>
        <p:spPr>
          <a:xfrm>
            <a:off x="548640" y="5102352"/>
            <a:ext cx="5486400" cy="777240"/>
          </a:xfrm>
          <a:prstGeom prst="roundRect">
            <a:avLst>
              <a:gd name="adj" fmla="val 9412"/>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85" name="Google Shape;85;p5"/>
          <p:cNvSpPr/>
          <p:nvPr/>
        </p:nvSpPr>
        <p:spPr>
          <a:xfrm>
            <a:off x="731520" y="5266944"/>
            <a:ext cx="438912" cy="438912"/>
          </a:xfrm>
          <a:prstGeom prst="ellipse">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86" name="Google Shape;86;p5"/>
          <p:cNvSpPr txBox="1"/>
          <p:nvPr/>
        </p:nvSpPr>
        <p:spPr>
          <a:xfrm>
            <a:off x="731520" y="5266944"/>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5</a:t>
            </a:r>
            <a:endParaRPr lang="vi-VN" sz="1700" b="0" i="0" u="none" strike="noStrike" cap="none" noProof="0" dirty="0">
              <a:solidFill>
                <a:schemeClr val="dk1"/>
              </a:solidFill>
              <a:latin typeface="Calibri"/>
              <a:ea typeface="Calibri"/>
              <a:cs typeface="Calibri"/>
              <a:sym typeface="Calibri"/>
            </a:endParaRPr>
          </a:p>
        </p:txBody>
      </p:sp>
      <p:sp>
        <p:nvSpPr>
          <p:cNvPr id="87" name="Google Shape;87;p5"/>
          <p:cNvSpPr txBox="1"/>
          <p:nvPr/>
        </p:nvSpPr>
        <p:spPr>
          <a:xfrm>
            <a:off x="1325880" y="5102352"/>
            <a:ext cx="45720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00"/>
              <a:buFont typeface="Calibri"/>
              <a:buNone/>
            </a:pPr>
            <a:r>
              <a:rPr lang="vi-VN" sz="1600" b="1" i="0" u="none" strike="noStrike" cap="none" noProof="0" dirty="0">
                <a:solidFill>
                  <a:srgbClr val="102A43"/>
                </a:solidFill>
                <a:latin typeface="Calibri"/>
                <a:ea typeface="Calibri"/>
                <a:cs typeface="Calibri"/>
                <a:sym typeface="Calibri"/>
              </a:rPr>
              <a:t>Học sinh, cán sự, GVCN đánh giá thế nào về độ hữu ích, dễ dùng?</a:t>
            </a:r>
            <a:endParaRPr lang="vi-VN" sz="1600" b="0" i="0" u="none" strike="noStrike" cap="none" noProof="0" dirty="0">
              <a:solidFill>
                <a:schemeClr val="dk1"/>
              </a:solidFill>
              <a:latin typeface="Calibri"/>
              <a:ea typeface="Calibri"/>
              <a:cs typeface="Calibri"/>
              <a:sym typeface="Calibri"/>
            </a:endParaRPr>
          </a:p>
        </p:txBody>
      </p:sp>
      <p:sp>
        <p:nvSpPr>
          <p:cNvPr id="88" name="Google Shape;88;p5"/>
          <p:cNvSpPr/>
          <p:nvPr/>
        </p:nvSpPr>
        <p:spPr>
          <a:xfrm>
            <a:off x="6309360" y="1554480"/>
            <a:ext cx="5330952" cy="1783080"/>
          </a:xfrm>
          <a:prstGeom prst="roundRect">
            <a:avLst>
              <a:gd name="adj" fmla="val 4103"/>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89" name="Google Shape;89;p5"/>
          <p:cNvSpPr txBox="1"/>
          <p:nvPr/>
        </p:nvSpPr>
        <p:spPr>
          <a:xfrm>
            <a:off x="6537960" y="1691640"/>
            <a:ext cx="48463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59E0B"/>
              </a:buClr>
              <a:buSzPts val="1600"/>
              <a:buFont typeface="Calibri"/>
              <a:buNone/>
            </a:pPr>
            <a:r>
              <a:rPr lang="vi-VN" sz="1900" b="1" i="0" u="none" strike="noStrike" cap="none" noProof="0" dirty="0">
                <a:solidFill>
                  <a:srgbClr val="F59E0B"/>
                </a:solidFill>
                <a:latin typeface="Calibri"/>
                <a:ea typeface="Calibri"/>
                <a:cs typeface="Calibri"/>
                <a:sym typeface="Calibri"/>
              </a:rPr>
              <a:t>Mục tiêu kỹ thuật</a:t>
            </a:r>
            <a:endParaRPr lang="vi-VN" sz="1900" b="0" i="0" u="none" strike="noStrike" cap="none" noProof="0" dirty="0">
              <a:solidFill>
                <a:schemeClr val="dk1"/>
              </a:solidFill>
              <a:latin typeface="Calibri"/>
              <a:ea typeface="Calibri"/>
              <a:cs typeface="Calibri"/>
              <a:sym typeface="Calibri"/>
            </a:endParaRPr>
          </a:p>
        </p:txBody>
      </p:sp>
      <p:sp>
        <p:nvSpPr>
          <p:cNvPr id="90" name="Google Shape;90;p5"/>
          <p:cNvSpPr txBox="1"/>
          <p:nvPr/>
        </p:nvSpPr>
        <p:spPr>
          <a:xfrm>
            <a:off x="6537960" y="2103120"/>
            <a:ext cx="4846320" cy="114300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FFFFFF"/>
              </a:buClr>
              <a:buSzPts val="1300"/>
              <a:buFont typeface="Calibri"/>
              <a:buNone/>
            </a:pPr>
            <a:r>
              <a:rPr lang="vi-VN" sz="1600" b="0" i="0" u="none" strike="noStrike" cap="none" noProof="0" dirty="0">
                <a:solidFill>
                  <a:srgbClr val="FFFFFF"/>
                </a:solidFill>
                <a:latin typeface="Calibri"/>
                <a:ea typeface="Calibri"/>
                <a:cs typeface="Calibri"/>
                <a:sym typeface="Calibri"/>
              </a:rPr>
              <a:t>Ứng dụng </a:t>
            </a:r>
            <a:r>
              <a:rPr lang="vi-VN" sz="1600" b="0" i="0" u="none" strike="noStrike" cap="none" noProof="0" dirty="0" err="1">
                <a:solidFill>
                  <a:srgbClr val="FFFFFF"/>
                </a:solidFill>
                <a:latin typeface="Calibri"/>
                <a:ea typeface="Calibri"/>
                <a:cs typeface="Calibri"/>
                <a:sym typeface="Calibri"/>
              </a:rPr>
              <a:t>web</a:t>
            </a:r>
            <a:r>
              <a:rPr lang="vi-VN" sz="1600" b="0" i="0" u="none" strike="noStrike" cap="none" noProof="0" dirty="0">
                <a:solidFill>
                  <a:srgbClr val="FFFFFF"/>
                </a:solidFill>
                <a:latin typeface="Calibri"/>
                <a:ea typeface="Calibri"/>
                <a:cs typeface="Calibri"/>
                <a:sym typeface="Calibri"/>
              </a:rPr>
              <a:t> “S-</a:t>
            </a:r>
            <a:r>
              <a:rPr lang="vi-VN" sz="1600" b="0" i="0" u="none" strike="noStrike" cap="none" noProof="0" dirty="0" err="1">
                <a:solidFill>
                  <a:srgbClr val="FFFFFF"/>
                </a:solidFill>
                <a:latin typeface="Calibri"/>
                <a:ea typeface="Calibri"/>
                <a:cs typeface="Calibri"/>
                <a:sym typeface="Calibri"/>
              </a:rPr>
              <a:t>Class</a:t>
            </a:r>
            <a:r>
              <a:rPr lang="vi-VN" sz="1600" b="0" i="0" u="none" strike="noStrike" cap="none" noProof="0" dirty="0">
                <a:solidFill>
                  <a:srgbClr val="FFFFFF"/>
                </a:solidFill>
                <a:latin typeface="Calibri"/>
                <a:ea typeface="Calibri"/>
                <a:cs typeface="Calibri"/>
                <a:sym typeface="Calibri"/>
              </a:rPr>
              <a:t>” với 6 phân hệ trong một hệ thống </a:t>
            </a:r>
            <a:r>
              <a:rPr lang="vi-VN" sz="1600" b="0" i="0" u="none" strike="noStrike" cap="none" noProof="0" dirty="0" err="1">
                <a:solidFill>
                  <a:srgbClr val="FFFFFF"/>
                </a:solidFill>
                <a:latin typeface="Calibri"/>
                <a:ea typeface="Calibri"/>
                <a:cs typeface="Calibri"/>
                <a:sym typeface="Calibri"/>
              </a:rPr>
              <a:t>thống</a:t>
            </a:r>
            <a:r>
              <a:rPr lang="vi-VN" sz="1600" b="0" i="0" u="none" strike="noStrike" cap="none" noProof="0" dirty="0">
                <a:solidFill>
                  <a:srgbClr val="FFFFFF"/>
                </a:solidFill>
                <a:latin typeface="Calibri"/>
                <a:ea typeface="Calibri"/>
                <a:cs typeface="Calibri"/>
                <a:sym typeface="Calibri"/>
              </a:rPr>
              <a:t> nhất; chạy trên trình duyệt, dùng được trên máy tính và điện thoại, chi phí triển khai gần như bằng không.</a:t>
            </a:r>
            <a:endParaRPr lang="vi-VN" sz="1600" b="0" i="0" u="none" strike="noStrike" cap="none" noProof="0" dirty="0">
              <a:solidFill>
                <a:schemeClr val="dk1"/>
              </a:solidFill>
              <a:latin typeface="Calibri"/>
              <a:ea typeface="Calibri"/>
              <a:cs typeface="Calibri"/>
              <a:sym typeface="Calibri"/>
            </a:endParaRPr>
          </a:p>
        </p:txBody>
      </p:sp>
      <p:sp>
        <p:nvSpPr>
          <p:cNvPr id="91" name="Google Shape;91;p5"/>
          <p:cNvSpPr/>
          <p:nvPr/>
        </p:nvSpPr>
        <p:spPr>
          <a:xfrm>
            <a:off x="6309360" y="3566160"/>
            <a:ext cx="5330952" cy="2313432"/>
          </a:xfrm>
          <a:prstGeom prst="roundRect">
            <a:avLst>
              <a:gd name="adj" fmla="val 3162"/>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92" name="Google Shape;92;p5"/>
          <p:cNvSpPr txBox="1"/>
          <p:nvPr/>
        </p:nvSpPr>
        <p:spPr>
          <a:xfrm>
            <a:off x="6537960" y="3703320"/>
            <a:ext cx="48463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1600"/>
              <a:buFont typeface="Calibri"/>
              <a:buNone/>
            </a:pPr>
            <a:r>
              <a:rPr lang="vi-VN" sz="1900" b="1" i="0" u="none" strike="noStrike" cap="none" noProof="0" dirty="0">
                <a:solidFill>
                  <a:srgbClr val="102A43"/>
                </a:solidFill>
                <a:latin typeface="Calibri"/>
                <a:ea typeface="Calibri"/>
                <a:cs typeface="Calibri"/>
                <a:sym typeface="Calibri"/>
              </a:rPr>
              <a:t>Mục tiêu mong đợi</a:t>
            </a:r>
            <a:endParaRPr lang="vi-VN" sz="1900" b="0" i="0" u="none" strike="noStrike" cap="none" noProof="0" dirty="0">
              <a:solidFill>
                <a:schemeClr val="dk1"/>
              </a:solidFill>
              <a:latin typeface="Calibri"/>
              <a:ea typeface="Calibri"/>
              <a:cs typeface="Calibri"/>
              <a:sym typeface="Calibri"/>
            </a:endParaRPr>
          </a:p>
        </p:txBody>
      </p:sp>
      <p:sp>
        <p:nvSpPr>
          <p:cNvPr id="93" name="Google Shape;93;p5"/>
          <p:cNvSpPr txBox="1"/>
          <p:nvPr/>
        </p:nvSpPr>
        <p:spPr>
          <a:xfrm>
            <a:off x="6537960" y="4114800"/>
            <a:ext cx="4846320" cy="1737360"/>
          </a:xfrm>
          <a:prstGeom prst="rect">
            <a:avLst/>
          </a:prstGeom>
          <a:noFill/>
          <a:ln>
            <a:noFill/>
          </a:ln>
        </p:spPr>
        <p:txBody>
          <a:bodyPr spcFirstLastPara="1" wrap="square" lIns="0" tIns="0" rIns="0" bIns="0" anchor="t" anchorCtr="0">
            <a:noAutofit/>
          </a:bodyPr>
          <a:lstStyle/>
          <a:p>
            <a:pPr marL="342900" marR="0" lvl="0" indent="-361950" algn="l" rtl="0">
              <a:spcBef>
                <a:spcPts val="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Giảm thời gian làm việc hành chính lặp lại</a:t>
            </a:r>
            <a:endParaRPr lang="vi-VN" sz="1550" b="0" i="0" u="none" strike="noStrike" cap="none" noProof="0" dirty="0">
              <a:solidFill>
                <a:schemeClr val="dk1"/>
              </a:solidFill>
              <a:latin typeface="Calibri"/>
              <a:ea typeface="Calibri"/>
              <a:cs typeface="Calibri"/>
              <a:sym typeface="Calibri"/>
            </a:endParaRPr>
          </a:p>
          <a:p>
            <a:pPr marL="342900" marR="0" lvl="0" indent="-361950" algn="l"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Kết quả ngẫu nhiên xem lại được; bầu cử kín, không bầu trùng</a:t>
            </a:r>
            <a:endParaRPr lang="vi-VN" sz="1550" b="0" i="0" u="none" strike="noStrike" cap="none" noProof="0" dirty="0">
              <a:solidFill>
                <a:schemeClr val="dk1"/>
              </a:solidFill>
              <a:latin typeface="Calibri"/>
              <a:ea typeface="Calibri"/>
              <a:cs typeface="Calibri"/>
              <a:sym typeface="Calibri"/>
            </a:endParaRPr>
          </a:p>
          <a:p>
            <a:pPr marL="342900" marR="0" lvl="0" indent="-361950" algn="just"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Giảm bỏ sót lịch kiểm tra, hạn nộp nhờ bản tin tuần</a:t>
            </a:r>
            <a:endParaRPr lang="vi-VN" sz="1550" b="0" i="0" u="none" strike="noStrike" cap="none" noProof="0" dirty="0">
              <a:solidFill>
                <a:schemeClr val="dk1"/>
              </a:solidFill>
              <a:latin typeface="Calibri"/>
              <a:ea typeface="Calibri"/>
              <a:cs typeface="Calibri"/>
              <a:sym typeface="Calibri"/>
            </a:endParaRPr>
          </a:p>
          <a:p>
            <a:pPr marL="342900" marR="0" lvl="0" indent="-361950" algn="l"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Lưu lịch sử lớp; mở rộng thành hệ thống cấp trường</a:t>
            </a:r>
            <a:endParaRPr lang="vi-VN" sz="155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98"/>
        <p:cNvGrpSpPr/>
        <p:nvPr/>
      </p:nvGrpSpPr>
      <p:grpSpPr>
        <a:xfrm>
          <a:off x="0" y="0"/>
          <a:ext cx="0" cy="0"/>
          <a:chOff x="0" y="0"/>
          <a:chExt cx="0" cy="0"/>
        </a:xfrm>
      </p:grpSpPr>
      <p:sp>
        <p:nvSpPr>
          <p:cNvPr id="99" name="Google Shape;99;p6"/>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3. Công nghệ, kiến trúc và phân quyền</a:t>
            </a:r>
            <a:endParaRPr lang="vi-VN" sz="3000" b="0" i="0" u="none" strike="noStrike" cap="none" noProof="0" dirty="0">
              <a:solidFill>
                <a:schemeClr val="dk1"/>
              </a:solidFill>
              <a:latin typeface="Calibri"/>
              <a:ea typeface="Calibri"/>
              <a:cs typeface="Calibri"/>
              <a:sym typeface="Calibri"/>
            </a:endParaRPr>
          </a:p>
        </p:txBody>
      </p:sp>
      <p:sp>
        <p:nvSpPr>
          <p:cNvPr id="100" name="Google Shape;100;p6"/>
          <p:cNvSpPr txBox="1"/>
          <p:nvPr/>
        </p:nvSpPr>
        <p:spPr>
          <a:xfrm>
            <a:off x="548640" y="932688"/>
            <a:ext cx="11064240" cy="3657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1E72B8"/>
              </a:buClr>
              <a:buSzPts val="1400"/>
              <a:buFont typeface="Calibri"/>
              <a:buNone/>
            </a:pPr>
            <a:r>
              <a:rPr lang="vi-VN" sz="1600" b="1" i="0" u="none" strike="noStrike" cap="none" noProof="0" dirty="0" err="1">
                <a:solidFill>
                  <a:srgbClr val="1E72B8"/>
                </a:solidFill>
                <a:latin typeface="Calibri"/>
                <a:ea typeface="Calibri"/>
                <a:cs typeface="Calibri"/>
                <a:sym typeface="Calibri"/>
              </a:rPr>
              <a:t>React</a:t>
            </a:r>
            <a:r>
              <a:rPr lang="vi-VN" sz="1600" b="1" i="0" u="none" strike="noStrike" cap="none" noProof="0" dirty="0">
                <a:solidFill>
                  <a:srgbClr val="1E72B8"/>
                </a:solidFill>
                <a:latin typeface="Calibri"/>
                <a:ea typeface="Calibri"/>
                <a:cs typeface="Calibri"/>
                <a:sym typeface="Calibri"/>
              </a:rPr>
              <a:t> • </a:t>
            </a:r>
            <a:r>
              <a:rPr lang="vi-VN" sz="1600" b="1" i="0" u="none" strike="noStrike" cap="none" noProof="0" dirty="0" err="1">
                <a:solidFill>
                  <a:srgbClr val="1E72B8"/>
                </a:solidFill>
                <a:latin typeface="Calibri"/>
                <a:ea typeface="Calibri"/>
                <a:cs typeface="Calibri"/>
                <a:sym typeface="Calibri"/>
              </a:rPr>
              <a:t>Netlify</a:t>
            </a:r>
            <a:r>
              <a:rPr lang="vi-VN" sz="1600" b="1" i="0" u="none" strike="noStrike" cap="none" noProof="0" dirty="0">
                <a:solidFill>
                  <a:srgbClr val="1E72B8"/>
                </a:solidFill>
                <a:latin typeface="Calibri"/>
                <a:ea typeface="Calibri"/>
                <a:cs typeface="Calibri"/>
                <a:sym typeface="Calibri"/>
              </a:rPr>
              <a:t> </a:t>
            </a:r>
            <a:r>
              <a:rPr lang="vi-VN" sz="1600" b="1" i="0" u="none" strike="noStrike" cap="none" noProof="0" dirty="0" err="1">
                <a:solidFill>
                  <a:srgbClr val="1E72B8"/>
                </a:solidFill>
                <a:latin typeface="Calibri"/>
                <a:ea typeface="Calibri"/>
                <a:cs typeface="Calibri"/>
                <a:sym typeface="Calibri"/>
              </a:rPr>
              <a:t>Functions</a:t>
            </a:r>
            <a:r>
              <a:rPr lang="vi-VN" sz="1600" b="1" i="0" u="none" strike="noStrike" cap="none" noProof="0" dirty="0">
                <a:solidFill>
                  <a:srgbClr val="1E72B8"/>
                </a:solidFill>
                <a:latin typeface="Calibri"/>
                <a:ea typeface="Calibri"/>
                <a:cs typeface="Calibri"/>
                <a:sym typeface="Calibri"/>
              </a:rPr>
              <a:t> • </a:t>
            </a:r>
            <a:r>
              <a:rPr lang="vi-VN" sz="1600" b="1" i="0" u="none" strike="noStrike" cap="none" noProof="0" dirty="0" err="1">
                <a:solidFill>
                  <a:srgbClr val="1E72B8"/>
                </a:solidFill>
                <a:latin typeface="Calibri"/>
                <a:ea typeface="Calibri"/>
                <a:cs typeface="Calibri"/>
                <a:sym typeface="Calibri"/>
              </a:rPr>
              <a:t>MongoDB</a:t>
            </a:r>
            <a:r>
              <a:rPr lang="vi-VN" sz="1600" b="1" i="0" u="none" strike="noStrike" cap="none" noProof="0" dirty="0">
                <a:solidFill>
                  <a:srgbClr val="1E72B8"/>
                </a:solidFill>
                <a:latin typeface="Calibri"/>
                <a:ea typeface="Calibri"/>
                <a:cs typeface="Calibri"/>
                <a:sym typeface="Calibri"/>
              </a:rPr>
              <a:t> </a:t>
            </a:r>
            <a:r>
              <a:rPr lang="vi-VN" sz="1600" b="1" i="0" u="none" strike="noStrike" cap="none" noProof="0" dirty="0" err="1">
                <a:solidFill>
                  <a:srgbClr val="1E72B8"/>
                </a:solidFill>
                <a:latin typeface="Calibri"/>
                <a:ea typeface="Calibri"/>
                <a:cs typeface="Calibri"/>
                <a:sym typeface="Calibri"/>
              </a:rPr>
              <a:t>Atlas</a:t>
            </a:r>
            <a:r>
              <a:rPr lang="vi-VN" sz="1600" b="1" i="0" u="none" strike="noStrike" cap="none" noProof="0" dirty="0">
                <a:solidFill>
                  <a:srgbClr val="1E72B8"/>
                </a:solidFill>
                <a:latin typeface="Calibri"/>
                <a:ea typeface="Calibri"/>
                <a:cs typeface="Calibri"/>
                <a:sym typeface="Calibri"/>
              </a:rPr>
              <a:t> • thư viện .</a:t>
            </a:r>
            <a:r>
              <a:rPr lang="vi-VN" sz="1600" b="1" i="0" u="none" strike="noStrike" cap="none" noProof="0" dirty="0" err="1">
                <a:solidFill>
                  <a:srgbClr val="1E72B8"/>
                </a:solidFill>
                <a:latin typeface="Calibri"/>
                <a:ea typeface="Calibri"/>
                <a:cs typeface="Calibri"/>
                <a:sym typeface="Calibri"/>
              </a:rPr>
              <a:t>xlsx</a:t>
            </a:r>
            <a:r>
              <a:rPr lang="vi-VN" sz="1600" b="1" i="0" u="none" strike="noStrike" cap="none" noProof="0" dirty="0">
                <a:solidFill>
                  <a:srgbClr val="1E72B8"/>
                </a:solidFill>
                <a:latin typeface="Calibri"/>
                <a:ea typeface="Calibri"/>
                <a:cs typeface="Calibri"/>
                <a:sym typeface="Calibri"/>
              </a:rPr>
              <a:t> – chi phí gần như bằng không.</a:t>
            </a:r>
            <a:endParaRPr lang="vi-VN" sz="1600" b="0" i="0" u="none" strike="noStrike" cap="none" noProof="0" dirty="0">
              <a:solidFill>
                <a:schemeClr val="dk1"/>
              </a:solidFill>
              <a:latin typeface="Calibri"/>
              <a:ea typeface="Calibri"/>
              <a:cs typeface="Calibri"/>
              <a:sym typeface="Calibri"/>
            </a:endParaRPr>
          </a:p>
        </p:txBody>
      </p:sp>
      <p:sp>
        <p:nvSpPr>
          <p:cNvPr id="101" name="Google Shape;101;p6"/>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102" name="Google Shape;102;p6"/>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200" b="0" i="0" u="none" strike="noStrike" cap="none" noProof="0" dirty="0">
                <a:solidFill>
                  <a:srgbClr val="718096"/>
                </a:solidFill>
                <a:latin typeface="Calibri"/>
                <a:ea typeface="Calibri"/>
                <a:cs typeface="Calibri"/>
                <a:sym typeface="Calibri"/>
              </a:rPr>
              <a:t>4</a:t>
            </a:r>
            <a:endParaRPr lang="vi-VN" sz="1200" b="0" i="0" u="none" strike="noStrike" cap="none" noProof="0" dirty="0">
              <a:solidFill>
                <a:schemeClr val="dk1"/>
              </a:solidFill>
              <a:latin typeface="Calibri"/>
              <a:ea typeface="Calibri"/>
              <a:cs typeface="Calibri"/>
              <a:sym typeface="Calibri"/>
            </a:endParaRPr>
          </a:p>
        </p:txBody>
      </p:sp>
      <p:sp>
        <p:nvSpPr>
          <p:cNvPr id="103" name="Google Shape;103;p6"/>
          <p:cNvSpPr/>
          <p:nvPr/>
        </p:nvSpPr>
        <p:spPr>
          <a:xfrm>
            <a:off x="548640" y="1554480"/>
            <a:ext cx="3291840" cy="1371600"/>
          </a:xfrm>
          <a:prstGeom prst="roundRect">
            <a:avLst>
              <a:gd name="adj" fmla="val 5333"/>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endParaRPr lang="vi-VN" sz="1700" noProof="0" dirty="0"/>
          </a:p>
        </p:txBody>
      </p:sp>
      <p:sp>
        <p:nvSpPr>
          <p:cNvPr id="104" name="Google Shape;104;p6"/>
          <p:cNvSpPr txBox="1"/>
          <p:nvPr/>
        </p:nvSpPr>
        <p:spPr>
          <a:xfrm>
            <a:off x="731520" y="1664208"/>
            <a:ext cx="2926080" cy="3657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22B8CF"/>
              </a:buClr>
              <a:buSzPts val="1600"/>
              <a:buFont typeface="Calibri"/>
              <a:buNone/>
            </a:pPr>
            <a:r>
              <a:rPr lang="vi-VN" sz="1900" b="1" i="0" u="none" strike="noStrike" cap="none" noProof="0" dirty="0">
                <a:solidFill>
                  <a:srgbClr val="22B8CF"/>
                </a:solidFill>
                <a:latin typeface="Calibri"/>
                <a:ea typeface="Calibri"/>
                <a:cs typeface="Calibri"/>
                <a:sym typeface="Calibri"/>
              </a:rPr>
              <a:t>Tầng giao diện</a:t>
            </a:r>
            <a:endParaRPr lang="vi-VN" sz="1900" b="0" i="0" u="none" strike="noStrike" cap="none" noProof="0" dirty="0">
              <a:solidFill>
                <a:schemeClr val="dk1"/>
              </a:solidFill>
              <a:latin typeface="Calibri"/>
              <a:ea typeface="Calibri"/>
              <a:cs typeface="Calibri"/>
              <a:sym typeface="Calibri"/>
            </a:endParaRPr>
          </a:p>
        </p:txBody>
      </p:sp>
      <p:sp>
        <p:nvSpPr>
          <p:cNvPr id="105" name="Google Shape;105;p6"/>
          <p:cNvSpPr txBox="1"/>
          <p:nvPr/>
        </p:nvSpPr>
        <p:spPr>
          <a:xfrm>
            <a:off x="731520" y="2075688"/>
            <a:ext cx="2926080" cy="77724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FFFFFF"/>
              </a:buClr>
              <a:buSzPts val="1250"/>
              <a:buFont typeface="Calibri"/>
              <a:buNone/>
            </a:pPr>
            <a:r>
              <a:rPr lang="vi-VN" sz="1550" b="0" i="0" u="none" strike="noStrike" cap="none" noProof="0" dirty="0" err="1">
                <a:solidFill>
                  <a:srgbClr val="FFFFFF"/>
                </a:solidFill>
                <a:latin typeface="Calibri"/>
                <a:ea typeface="Calibri"/>
                <a:cs typeface="Calibri"/>
                <a:sym typeface="Calibri"/>
              </a:rPr>
              <a:t>React</a:t>
            </a:r>
            <a:r>
              <a:rPr lang="vi-VN" sz="1550" b="0" i="0" u="none" strike="noStrike" cap="none" noProof="0" dirty="0">
                <a:solidFill>
                  <a:srgbClr val="FFFFFF"/>
                </a:solidFill>
                <a:latin typeface="Calibri"/>
                <a:ea typeface="Calibri"/>
                <a:cs typeface="Calibri"/>
                <a:sym typeface="Calibri"/>
              </a:rPr>
              <a:t> SPA, thiết kế </a:t>
            </a:r>
            <a:r>
              <a:rPr lang="vi-VN" sz="1550" b="0" i="0" u="none" strike="noStrike" cap="none" noProof="0" dirty="0" err="1">
                <a:solidFill>
                  <a:srgbClr val="FFFFFF"/>
                </a:solidFill>
                <a:latin typeface="Calibri"/>
                <a:ea typeface="Calibri"/>
                <a:cs typeface="Calibri"/>
                <a:sym typeface="Calibri"/>
              </a:rPr>
              <a:t>responsive</a:t>
            </a:r>
            <a:r>
              <a:rPr lang="vi-VN" sz="1550" b="0" i="0" u="none" strike="noStrike" cap="none" noProof="0" dirty="0">
                <a:solidFill>
                  <a:srgbClr val="FFFFFF"/>
                </a:solidFill>
                <a:latin typeface="Calibri"/>
                <a:ea typeface="Calibri"/>
                <a:cs typeface="Calibri"/>
                <a:sym typeface="Calibri"/>
              </a:rPr>
              <a:t>; nhập/xuất Excel</a:t>
            </a:r>
            <a:endParaRPr lang="vi-VN" sz="1550" b="0" i="0" u="none" strike="noStrike" cap="none" noProof="0" dirty="0">
              <a:solidFill>
                <a:schemeClr val="dk1"/>
              </a:solidFill>
              <a:latin typeface="Calibri"/>
              <a:ea typeface="Calibri"/>
              <a:cs typeface="Calibri"/>
              <a:sym typeface="Calibri"/>
            </a:endParaRPr>
          </a:p>
        </p:txBody>
      </p:sp>
      <p:sp>
        <p:nvSpPr>
          <p:cNvPr id="106" name="Google Shape;106;p6"/>
          <p:cNvSpPr/>
          <p:nvPr/>
        </p:nvSpPr>
        <p:spPr>
          <a:xfrm>
            <a:off x="3959352" y="2084832"/>
            <a:ext cx="365760" cy="320040"/>
          </a:xfrm>
          <a:prstGeom prst="rightArrow">
            <a:avLst>
              <a:gd name="adj1" fmla="val 50000"/>
              <a:gd name="adj2" fmla="val 50000"/>
            </a:avLst>
          </a:prstGeom>
          <a:solidFill>
            <a:srgbClr val="718096"/>
          </a:solidFill>
          <a:ln w="12700" cap="flat" cmpd="sng">
            <a:solidFill>
              <a:srgbClr val="718096"/>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endParaRPr lang="vi-VN" sz="1700" noProof="0" dirty="0"/>
          </a:p>
        </p:txBody>
      </p:sp>
      <p:sp>
        <p:nvSpPr>
          <p:cNvPr id="107" name="Google Shape;107;p6"/>
          <p:cNvSpPr/>
          <p:nvPr/>
        </p:nvSpPr>
        <p:spPr>
          <a:xfrm>
            <a:off x="4448556" y="1554480"/>
            <a:ext cx="3291840" cy="1371600"/>
          </a:xfrm>
          <a:prstGeom prst="roundRect">
            <a:avLst>
              <a:gd name="adj" fmla="val 5333"/>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endParaRPr lang="vi-VN" sz="1700" noProof="0" dirty="0"/>
          </a:p>
        </p:txBody>
      </p:sp>
      <p:sp>
        <p:nvSpPr>
          <p:cNvPr id="108" name="Google Shape;108;p6"/>
          <p:cNvSpPr txBox="1"/>
          <p:nvPr/>
        </p:nvSpPr>
        <p:spPr>
          <a:xfrm>
            <a:off x="4631436" y="1664208"/>
            <a:ext cx="2926080" cy="3657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1E72B8"/>
              </a:buClr>
              <a:buSzPts val="1600"/>
              <a:buFont typeface="Calibri"/>
              <a:buNone/>
            </a:pPr>
            <a:r>
              <a:rPr lang="vi-VN" sz="1900" b="1" i="0" u="none" strike="noStrike" cap="none" noProof="0" dirty="0">
                <a:solidFill>
                  <a:srgbClr val="1E72B8"/>
                </a:solidFill>
                <a:latin typeface="Calibri"/>
                <a:ea typeface="Calibri"/>
                <a:cs typeface="Calibri"/>
                <a:sym typeface="Calibri"/>
              </a:rPr>
              <a:t>Tầng xử lý</a:t>
            </a:r>
            <a:endParaRPr lang="vi-VN" sz="1900" b="0" i="0" u="none" strike="noStrike" cap="none" noProof="0" dirty="0">
              <a:solidFill>
                <a:schemeClr val="dk1"/>
              </a:solidFill>
              <a:latin typeface="Calibri"/>
              <a:ea typeface="Calibri"/>
              <a:cs typeface="Calibri"/>
              <a:sym typeface="Calibri"/>
            </a:endParaRPr>
          </a:p>
        </p:txBody>
      </p:sp>
      <p:sp>
        <p:nvSpPr>
          <p:cNvPr id="109" name="Google Shape;109;p6"/>
          <p:cNvSpPr txBox="1"/>
          <p:nvPr/>
        </p:nvSpPr>
        <p:spPr>
          <a:xfrm>
            <a:off x="4631436" y="2075688"/>
            <a:ext cx="2926080" cy="77724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FFFFFF"/>
              </a:buClr>
              <a:buSzPts val="1250"/>
              <a:buFont typeface="Calibri"/>
              <a:buNone/>
            </a:pPr>
            <a:r>
              <a:rPr lang="vi-VN" sz="1550" b="0" i="0" u="none" strike="noStrike" cap="none" noProof="0" dirty="0" err="1">
                <a:solidFill>
                  <a:srgbClr val="FFFFFF"/>
                </a:solidFill>
                <a:latin typeface="Calibri"/>
                <a:ea typeface="Calibri"/>
                <a:cs typeface="Calibri"/>
                <a:sym typeface="Calibri"/>
              </a:rPr>
              <a:t>Netlify</a:t>
            </a:r>
            <a:r>
              <a:rPr lang="vi-VN" sz="1550" b="0" i="0" u="none" strike="noStrike" cap="none" noProof="0" dirty="0">
                <a:solidFill>
                  <a:srgbClr val="FFFFFF"/>
                </a:solidFill>
                <a:latin typeface="Calibri"/>
                <a:ea typeface="Calibri"/>
                <a:cs typeface="Calibri"/>
                <a:sym typeface="Calibri"/>
              </a:rPr>
              <a:t> </a:t>
            </a:r>
            <a:r>
              <a:rPr lang="vi-VN" sz="1550" b="0" i="0" u="none" strike="noStrike" cap="none" noProof="0" dirty="0" err="1">
                <a:solidFill>
                  <a:srgbClr val="FFFFFF"/>
                </a:solidFill>
                <a:latin typeface="Calibri"/>
                <a:ea typeface="Calibri"/>
                <a:cs typeface="Calibri"/>
                <a:sym typeface="Calibri"/>
              </a:rPr>
              <a:t>Functions</a:t>
            </a:r>
            <a:r>
              <a:rPr lang="vi-VN" sz="1550" b="0" i="0" u="none" strike="noStrike" cap="none" noProof="0" dirty="0">
                <a:solidFill>
                  <a:srgbClr val="FFFFFF"/>
                </a:solidFill>
                <a:latin typeface="Calibri"/>
                <a:ea typeface="Calibri"/>
                <a:cs typeface="Calibri"/>
                <a:sym typeface="Calibri"/>
              </a:rPr>
              <a:t>: phân quyền, ngẫu nhiên hóa, bỏ phiếu</a:t>
            </a:r>
            <a:endParaRPr lang="vi-VN" sz="1550" b="0" i="0" u="none" strike="noStrike" cap="none" noProof="0" dirty="0">
              <a:solidFill>
                <a:schemeClr val="dk1"/>
              </a:solidFill>
              <a:latin typeface="Calibri"/>
              <a:ea typeface="Calibri"/>
              <a:cs typeface="Calibri"/>
              <a:sym typeface="Calibri"/>
            </a:endParaRPr>
          </a:p>
        </p:txBody>
      </p:sp>
      <p:sp>
        <p:nvSpPr>
          <p:cNvPr id="110" name="Google Shape;110;p6"/>
          <p:cNvSpPr/>
          <p:nvPr/>
        </p:nvSpPr>
        <p:spPr>
          <a:xfrm>
            <a:off x="7859268" y="2084832"/>
            <a:ext cx="365760" cy="320040"/>
          </a:xfrm>
          <a:prstGeom prst="rightArrow">
            <a:avLst>
              <a:gd name="adj1" fmla="val 50000"/>
              <a:gd name="adj2" fmla="val 50000"/>
            </a:avLst>
          </a:prstGeom>
          <a:solidFill>
            <a:srgbClr val="718096"/>
          </a:solidFill>
          <a:ln w="12700" cap="flat" cmpd="sng">
            <a:solidFill>
              <a:srgbClr val="718096"/>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endParaRPr lang="vi-VN" sz="1700" noProof="0" dirty="0"/>
          </a:p>
        </p:txBody>
      </p:sp>
      <p:sp>
        <p:nvSpPr>
          <p:cNvPr id="111" name="Google Shape;111;p6"/>
          <p:cNvSpPr/>
          <p:nvPr/>
        </p:nvSpPr>
        <p:spPr>
          <a:xfrm>
            <a:off x="8348472" y="1554480"/>
            <a:ext cx="3291840" cy="1371600"/>
          </a:xfrm>
          <a:prstGeom prst="roundRect">
            <a:avLst>
              <a:gd name="adj" fmla="val 5333"/>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endParaRPr lang="vi-VN" sz="1700" noProof="0" dirty="0"/>
          </a:p>
        </p:txBody>
      </p:sp>
      <p:sp>
        <p:nvSpPr>
          <p:cNvPr id="112" name="Google Shape;112;p6"/>
          <p:cNvSpPr txBox="1"/>
          <p:nvPr/>
        </p:nvSpPr>
        <p:spPr>
          <a:xfrm>
            <a:off x="8531352" y="1664208"/>
            <a:ext cx="2926080" cy="3657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F59E0B"/>
              </a:buClr>
              <a:buSzPts val="1600"/>
              <a:buFont typeface="Calibri"/>
              <a:buNone/>
            </a:pPr>
            <a:r>
              <a:rPr lang="vi-VN" sz="1900" b="1" i="0" u="none" strike="noStrike" cap="none" noProof="0" dirty="0">
                <a:solidFill>
                  <a:srgbClr val="F59E0B"/>
                </a:solidFill>
                <a:latin typeface="Calibri"/>
                <a:ea typeface="Calibri"/>
                <a:cs typeface="Calibri"/>
                <a:sym typeface="Calibri"/>
              </a:rPr>
              <a:t>Tầng dữ liệu</a:t>
            </a:r>
            <a:endParaRPr lang="vi-VN" sz="1900" b="0" i="0" u="none" strike="noStrike" cap="none" noProof="0" dirty="0">
              <a:solidFill>
                <a:schemeClr val="dk1"/>
              </a:solidFill>
              <a:latin typeface="Calibri"/>
              <a:ea typeface="Calibri"/>
              <a:cs typeface="Calibri"/>
              <a:sym typeface="Calibri"/>
            </a:endParaRPr>
          </a:p>
        </p:txBody>
      </p:sp>
      <p:sp>
        <p:nvSpPr>
          <p:cNvPr id="113" name="Google Shape;113;p6"/>
          <p:cNvSpPr txBox="1"/>
          <p:nvPr/>
        </p:nvSpPr>
        <p:spPr>
          <a:xfrm>
            <a:off x="8531352" y="2075688"/>
            <a:ext cx="2926080" cy="77724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FFFFFF"/>
              </a:buClr>
              <a:buSzPts val="1250"/>
              <a:buFont typeface="Calibri"/>
              <a:buNone/>
            </a:pPr>
            <a:r>
              <a:rPr lang="vi-VN" sz="1550" b="0" i="0" u="none" strike="noStrike" cap="none" noProof="0" dirty="0" err="1">
                <a:solidFill>
                  <a:srgbClr val="FFFFFF"/>
                </a:solidFill>
                <a:latin typeface="Calibri"/>
                <a:ea typeface="Calibri"/>
                <a:cs typeface="Calibri"/>
                <a:sym typeface="Calibri"/>
              </a:rPr>
              <a:t>MongoDB</a:t>
            </a:r>
            <a:r>
              <a:rPr lang="vi-VN" sz="1550" b="0" i="0" u="none" strike="noStrike" cap="none" noProof="0" dirty="0">
                <a:solidFill>
                  <a:srgbClr val="FFFFFF"/>
                </a:solidFill>
                <a:latin typeface="Calibri"/>
                <a:ea typeface="Calibri"/>
                <a:cs typeface="Calibri"/>
                <a:sym typeface="Calibri"/>
              </a:rPr>
              <a:t> </a:t>
            </a:r>
            <a:r>
              <a:rPr lang="vi-VN" sz="1550" b="0" i="0" u="none" strike="noStrike" cap="none" noProof="0" dirty="0" err="1">
                <a:solidFill>
                  <a:srgbClr val="FFFFFF"/>
                </a:solidFill>
                <a:latin typeface="Calibri"/>
                <a:ea typeface="Calibri"/>
                <a:cs typeface="Calibri"/>
                <a:sym typeface="Calibri"/>
              </a:rPr>
              <a:t>Atlas</a:t>
            </a:r>
            <a:r>
              <a:rPr lang="vi-VN" sz="1550" b="0" i="0" u="none" strike="noStrike" cap="none" noProof="0" dirty="0">
                <a:solidFill>
                  <a:srgbClr val="FFFFFF"/>
                </a:solidFill>
                <a:latin typeface="Calibri"/>
                <a:ea typeface="Calibri"/>
                <a:cs typeface="Calibri"/>
                <a:sym typeface="Calibri"/>
              </a:rPr>
              <a:t>: lớp, học sinh, kết quả, nhật ký</a:t>
            </a:r>
            <a:endParaRPr lang="vi-VN" sz="1550" b="0" i="0" u="none" strike="noStrike" cap="none" noProof="0" dirty="0">
              <a:solidFill>
                <a:schemeClr val="dk1"/>
              </a:solidFill>
              <a:latin typeface="Calibri"/>
              <a:ea typeface="Calibri"/>
              <a:cs typeface="Calibri"/>
              <a:sym typeface="Calibri"/>
            </a:endParaRPr>
          </a:p>
        </p:txBody>
      </p:sp>
      <p:sp>
        <p:nvSpPr>
          <p:cNvPr id="114" name="Google Shape;114;p6"/>
          <p:cNvSpPr txBox="1"/>
          <p:nvPr/>
        </p:nvSpPr>
        <p:spPr>
          <a:xfrm>
            <a:off x="548640" y="3108960"/>
            <a:ext cx="5486400" cy="3657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102A43"/>
              </a:buClr>
              <a:buSzPts val="1600"/>
              <a:buFont typeface="Calibri"/>
              <a:buNone/>
            </a:pPr>
            <a:r>
              <a:rPr lang="vi-VN" sz="1900" b="1" i="0" u="none" strike="noStrike" cap="none" noProof="0" dirty="0">
                <a:solidFill>
                  <a:srgbClr val="102A43"/>
                </a:solidFill>
                <a:latin typeface="Calibri"/>
                <a:ea typeface="Calibri"/>
                <a:cs typeface="Calibri"/>
                <a:sym typeface="Calibri"/>
              </a:rPr>
              <a:t>Phân quyền người dùng</a:t>
            </a:r>
            <a:endParaRPr lang="vi-VN" sz="1900" b="0" i="0" u="none" strike="noStrike" cap="none" noProof="0" dirty="0">
              <a:solidFill>
                <a:schemeClr val="dk1"/>
              </a:solidFill>
              <a:latin typeface="Calibri"/>
              <a:ea typeface="Calibri"/>
              <a:cs typeface="Calibri"/>
              <a:sym typeface="Calibri"/>
            </a:endParaRPr>
          </a:p>
        </p:txBody>
      </p:sp>
      <p:sp>
        <p:nvSpPr>
          <p:cNvPr id="115" name="Google Shape;115;p6"/>
          <p:cNvSpPr/>
          <p:nvPr/>
        </p:nvSpPr>
        <p:spPr>
          <a:xfrm>
            <a:off x="548640" y="3520440"/>
            <a:ext cx="3291840" cy="1920240"/>
          </a:xfrm>
          <a:prstGeom prst="roundRect">
            <a:avLst>
              <a:gd name="adj" fmla="val 381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16" name="Google Shape;116;p6"/>
          <p:cNvSpPr/>
          <p:nvPr/>
        </p:nvSpPr>
        <p:spPr>
          <a:xfrm>
            <a:off x="731520" y="3703320"/>
            <a:ext cx="457200" cy="457200"/>
          </a:xfrm>
          <a:prstGeom prst="ellipse">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17" name="Google Shape;117;p6"/>
          <p:cNvSpPr txBox="1"/>
          <p:nvPr/>
        </p:nvSpPr>
        <p:spPr>
          <a:xfrm>
            <a:off x="731520" y="37033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vi-VN" sz="1600" b="1" i="0" u="none" strike="noStrike" cap="none" noProof="0" dirty="0">
                <a:solidFill>
                  <a:srgbClr val="FFFFFF"/>
                </a:solidFill>
                <a:latin typeface="Calibri"/>
                <a:ea typeface="Calibri"/>
                <a:cs typeface="Calibri"/>
                <a:sym typeface="Calibri"/>
              </a:rPr>
              <a:t>QT</a:t>
            </a:r>
            <a:endParaRPr lang="vi-VN" sz="1600" b="0" i="0" u="none" strike="noStrike" cap="none" noProof="0" dirty="0">
              <a:solidFill>
                <a:schemeClr val="dk1"/>
              </a:solidFill>
              <a:latin typeface="Calibri"/>
              <a:ea typeface="Calibri"/>
              <a:cs typeface="Calibri"/>
              <a:sym typeface="Calibri"/>
            </a:endParaRPr>
          </a:p>
        </p:txBody>
      </p:sp>
      <p:sp>
        <p:nvSpPr>
          <p:cNvPr id="118" name="Google Shape;118;p6"/>
          <p:cNvSpPr txBox="1"/>
          <p:nvPr/>
        </p:nvSpPr>
        <p:spPr>
          <a:xfrm>
            <a:off x="1325880" y="3703320"/>
            <a:ext cx="2331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Quản trị viên (GVCN)</a:t>
            </a:r>
            <a:endParaRPr lang="vi-VN" sz="1700" b="0" i="0" u="none" strike="noStrike" cap="none" noProof="0" dirty="0">
              <a:solidFill>
                <a:schemeClr val="dk1"/>
              </a:solidFill>
              <a:latin typeface="Calibri"/>
              <a:ea typeface="Calibri"/>
              <a:cs typeface="Calibri"/>
              <a:sym typeface="Calibri"/>
            </a:endParaRPr>
          </a:p>
        </p:txBody>
      </p:sp>
      <p:sp>
        <p:nvSpPr>
          <p:cNvPr id="119" name="Google Shape;119;p6"/>
          <p:cNvSpPr txBox="1"/>
          <p:nvPr/>
        </p:nvSpPr>
        <p:spPr>
          <a:xfrm>
            <a:off x="731520" y="4270248"/>
            <a:ext cx="2926080" cy="10515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Tạo lớp, nhập danh sách, cấp tài khoản, mở/đóng bầu cử, duyệt bản tin, xem thống kê.</a:t>
            </a:r>
            <a:endParaRPr lang="vi-VN" sz="1500" b="0" i="0" u="none" strike="noStrike" cap="none" noProof="0" dirty="0">
              <a:solidFill>
                <a:schemeClr val="dk1"/>
              </a:solidFill>
              <a:latin typeface="Calibri"/>
              <a:ea typeface="Calibri"/>
              <a:cs typeface="Calibri"/>
              <a:sym typeface="Calibri"/>
            </a:endParaRPr>
          </a:p>
        </p:txBody>
      </p:sp>
      <p:sp>
        <p:nvSpPr>
          <p:cNvPr id="120" name="Google Shape;120;p6"/>
          <p:cNvSpPr/>
          <p:nvPr/>
        </p:nvSpPr>
        <p:spPr>
          <a:xfrm>
            <a:off x="4448556" y="3520440"/>
            <a:ext cx="3291840" cy="1920240"/>
          </a:xfrm>
          <a:prstGeom prst="roundRect">
            <a:avLst>
              <a:gd name="adj" fmla="val 381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21" name="Google Shape;121;p6"/>
          <p:cNvSpPr/>
          <p:nvPr/>
        </p:nvSpPr>
        <p:spPr>
          <a:xfrm>
            <a:off x="4631436" y="3703320"/>
            <a:ext cx="457200" cy="4572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22" name="Google Shape;122;p6"/>
          <p:cNvSpPr txBox="1"/>
          <p:nvPr/>
        </p:nvSpPr>
        <p:spPr>
          <a:xfrm>
            <a:off x="4631436" y="37033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vi-VN" sz="1600" b="1" i="0" u="none" strike="noStrike" cap="none" noProof="0" dirty="0">
                <a:solidFill>
                  <a:srgbClr val="FFFFFF"/>
                </a:solidFill>
                <a:latin typeface="Calibri"/>
                <a:ea typeface="Calibri"/>
                <a:cs typeface="Calibri"/>
                <a:sym typeface="Calibri"/>
              </a:rPr>
              <a:t>CS</a:t>
            </a:r>
            <a:endParaRPr lang="vi-VN" sz="1600" b="0" i="0" u="none" strike="noStrike" cap="none" noProof="0" dirty="0">
              <a:solidFill>
                <a:schemeClr val="dk1"/>
              </a:solidFill>
              <a:latin typeface="Calibri"/>
              <a:ea typeface="Calibri"/>
              <a:cs typeface="Calibri"/>
              <a:sym typeface="Calibri"/>
            </a:endParaRPr>
          </a:p>
        </p:txBody>
      </p:sp>
      <p:sp>
        <p:nvSpPr>
          <p:cNvPr id="123" name="Google Shape;123;p6"/>
          <p:cNvSpPr txBox="1"/>
          <p:nvPr/>
        </p:nvSpPr>
        <p:spPr>
          <a:xfrm>
            <a:off x="5225796" y="3703320"/>
            <a:ext cx="2331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Cán sự lớp</a:t>
            </a:r>
            <a:endParaRPr lang="vi-VN" sz="1700" b="0" i="0" u="none" strike="noStrike" cap="none" noProof="0" dirty="0">
              <a:solidFill>
                <a:schemeClr val="dk1"/>
              </a:solidFill>
              <a:latin typeface="Calibri"/>
              <a:ea typeface="Calibri"/>
              <a:cs typeface="Calibri"/>
              <a:sym typeface="Calibri"/>
            </a:endParaRPr>
          </a:p>
        </p:txBody>
      </p:sp>
      <p:sp>
        <p:nvSpPr>
          <p:cNvPr id="124" name="Google Shape;124;p6"/>
          <p:cNvSpPr txBox="1"/>
          <p:nvPr/>
        </p:nvSpPr>
        <p:spPr>
          <a:xfrm>
            <a:off x="4631436" y="4270248"/>
            <a:ext cx="2926080" cy="10515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Soạn bản tin, tạo hoạt động, lập lịch trực, phân nhóm, xếp chỗ (theo quyền được cấp).</a:t>
            </a:r>
            <a:endParaRPr lang="vi-VN" sz="1500" b="0" i="0" u="none" strike="noStrike" cap="none" noProof="0" dirty="0">
              <a:solidFill>
                <a:schemeClr val="dk1"/>
              </a:solidFill>
              <a:latin typeface="Calibri"/>
              <a:ea typeface="Calibri"/>
              <a:cs typeface="Calibri"/>
              <a:sym typeface="Calibri"/>
            </a:endParaRPr>
          </a:p>
        </p:txBody>
      </p:sp>
      <p:sp>
        <p:nvSpPr>
          <p:cNvPr id="125" name="Google Shape;125;p6"/>
          <p:cNvSpPr/>
          <p:nvPr/>
        </p:nvSpPr>
        <p:spPr>
          <a:xfrm>
            <a:off x="8348472" y="3520440"/>
            <a:ext cx="3291840" cy="1920240"/>
          </a:xfrm>
          <a:prstGeom prst="roundRect">
            <a:avLst>
              <a:gd name="adj" fmla="val 381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26" name="Google Shape;126;p6"/>
          <p:cNvSpPr/>
          <p:nvPr/>
        </p:nvSpPr>
        <p:spPr>
          <a:xfrm>
            <a:off x="8531352" y="3703320"/>
            <a:ext cx="457200" cy="457200"/>
          </a:xfrm>
          <a:prstGeom prst="ellipse">
            <a:avLst/>
          </a:prstGeom>
          <a:solidFill>
            <a:srgbClr val="3ECF8E"/>
          </a:solidFill>
          <a:ln w="12700" cap="flat" cmpd="sng">
            <a:solidFill>
              <a:srgbClr val="3ECF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27" name="Google Shape;127;p6"/>
          <p:cNvSpPr txBox="1"/>
          <p:nvPr/>
        </p:nvSpPr>
        <p:spPr>
          <a:xfrm>
            <a:off x="8531352" y="37033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vi-VN" sz="1600" b="1" i="0" u="none" strike="noStrike" cap="none" noProof="0" dirty="0">
                <a:solidFill>
                  <a:srgbClr val="FFFFFF"/>
                </a:solidFill>
                <a:latin typeface="Calibri"/>
                <a:ea typeface="Calibri"/>
                <a:cs typeface="Calibri"/>
                <a:sym typeface="Calibri"/>
              </a:rPr>
              <a:t>HS</a:t>
            </a:r>
            <a:endParaRPr lang="vi-VN" sz="1600" b="0" i="0" u="none" strike="noStrike" cap="none" noProof="0" dirty="0">
              <a:solidFill>
                <a:schemeClr val="dk1"/>
              </a:solidFill>
              <a:latin typeface="Calibri"/>
              <a:ea typeface="Calibri"/>
              <a:cs typeface="Calibri"/>
              <a:sym typeface="Calibri"/>
            </a:endParaRPr>
          </a:p>
        </p:txBody>
      </p:sp>
      <p:sp>
        <p:nvSpPr>
          <p:cNvPr id="128" name="Google Shape;128;p6"/>
          <p:cNvSpPr txBox="1"/>
          <p:nvPr/>
        </p:nvSpPr>
        <p:spPr>
          <a:xfrm>
            <a:off x="9125712" y="3703320"/>
            <a:ext cx="2331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Học sinh</a:t>
            </a:r>
            <a:endParaRPr lang="vi-VN" sz="1700" b="0" i="0" u="none" strike="noStrike" cap="none" noProof="0" dirty="0">
              <a:solidFill>
                <a:schemeClr val="dk1"/>
              </a:solidFill>
              <a:latin typeface="Calibri"/>
              <a:ea typeface="Calibri"/>
              <a:cs typeface="Calibri"/>
              <a:sym typeface="Calibri"/>
            </a:endParaRPr>
          </a:p>
        </p:txBody>
      </p:sp>
      <p:sp>
        <p:nvSpPr>
          <p:cNvPr id="129" name="Google Shape;129;p6"/>
          <p:cNvSpPr txBox="1"/>
          <p:nvPr/>
        </p:nvSpPr>
        <p:spPr>
          <a:xfrm>
            <a:off x="8531352" y="4270248"/>
            <a:ext cx="2926080" cy="105156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Xem chỗ ngồi, bản tin, lịch trực, nhóm; bỏ phiếu; xác nhận hoàn thành; yêu cầu đổi lịch.</a:t>
            </a:r>
            <a:endParaRPr lang="vi-VN" sz="1500" b="0" i="0" u="none" strike="noStrike" cap="none" noProof="0" dirty="0">
              <a:solidFill>
                <a:schemeClr val="dk1"/>
              </a:solidFill>
              <a:latin typeface="Calibri"/>
              <a:ea typeface="Calibri"/>
              <a:cs typeface="Calibri"/>
              <a:sym typeface="Calibri"/>
            </a:endParaRPr>
          </a:p>
        </p:txBody>
      </p:sp>
      <p:sp>
        <p:nvSpPr>
          <p:cNvPr id="130" name="Google Shape;130;p6"/>
          <p:cNvSpPr/>
          <p:nvPr/>
        </p:nvSpPr>
        <p:spPr>
          <a:xfrm>
            <a:off x="548640" y="5669280"/>
            <a:ext cx="11091672" cy="548640"/>
          </a:xfrm>
          <a:prstGeom prst="roundRect">
            <a:avLst>
              <a:gd name="adj" fmla="val 16667"/>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31" name="Google Shape;131;p6"/>
          <p:cNvSpPr txBox="1"/>
          <p:nvPr/>
        </p:nvSpPr>
        <p:spPr>
          <a:xfrm>
            <a:off x="731520" y="5669280"/>
            <a:ext cx="1072591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400"/>
              <a:buFont typeface="Calibri"/>
              <a:buNone/>
            </a:pPr>
            <a:r>
              <a:rPr lang="vi-VN" sz="1700" b="1" i="0" u="none" strike="noStrike" cap="none" noProof="0" dirty="0">
                <a:solidFill>
                  <a:srgbClr val="0B1F3A"/>
                </a:solidFill>
                <a:latin typeface="Calibri"/>
                <a:ea typeface="Calibri"/>
                <a:cs typeface="Calibri"/>
                <a:sym typeface="Calibri"/>
              </a:rPr>
              <a:t>Học sinh không thể can thiệp trực tiếp vào cơ sở dữ liệu – mọi thao tác ghi đều qua tầng xử lý.</a:t>
            </a:r>
            <a:endParaRPr lang="vi-VN" sz="17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136"/>
        <p:cNvGrpSpPr/>
        <p:nvPr/>
      </p:nvGrpSpPr>
      <p:grpSpPr>
        <a:xfrm>
          <a:off x="0" y="0"/>
          <a:ext cx="0" cy="0"/>
          <a:chOff x="0" y="0"/>
          <a:chExt cx="0" cy="0"/>
        </a:xfrm>
      </p:grpSpPr>
      <p:sp>
        <p:nvSpPr>
          <p:cNvPr id="137" name="Google Shape;137;p7"/>
          <p:cNvSpPr txBox="1"/>
          <p:nvPr/>
        </p:nvSpPr>
        <p:spPr>
          <a:xfrm>
            <a:off x="2682970" y="2798006"/>
            <a:ext cx="14631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050"/>
              <a:buFont typeface="Calibri"/>
              <a:buNone/>
            </a:pPr>
            <a:r>
              <a:rPr lang="vi-VN" sz="1350" b="1" i="0" u="none" strike="noStrike" cap="none" noProof="0" dirty="0">
                <a:solidFill>
                  <a:srgbClr val="0B1F3A"/>
                </a:solidFill>
                <a:latin typeface="Calibri"/>
                <a:ea typeface="Calibri"/>
                <a:cs typeface="Calibri"/>
                <a:sym typeface="Calibri"/>
              </a:rPr>
              <a:t>Đã hoàn chỉnh</a:t>
            </a:r>
            <a:endParaRPr lang="vi-VN" sz="1350" b="0" i="0" u="none" strike="noStrike" cap="none" noProof="0" dirty="0">
              <a:solidFill>
                <a:schemeClr val="dk1"/>
              </a:solidFill>
              <a:latin typeface="Calibri"/>
              <a:ea typeface="Calibri"/>
              <a:cs typeface="Calibri"/>
              <a:sym typeface="Calibri"/>
            </a:endParaRPr>
          </a:p>
        </p:txBody>
      </p:sp>
      <p:sp>
        <p:nvSpPr>
          <p:cNvPr id="138" name="Google Shape;138;p7"/>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4. </a:t>
            </a:r>
            <a:r>
              <a:rPr lang="vi-VN" sz="3000" b="1" noProof="0" dirty="0">
                <a:solidFill>
                  <a:srgbClr val="102A43"/>
                </a:solidFill>
                <a:latin typeface="Calibri"/>
                <a:ea typeface="Calibri"/>
                <a:cs typeface="Calibri"/>
                <a:sym typeface="Calibri"/>
              </a:rPr>
              <a:t>Các chức năng </a:t>
            </a:r>
            <a:r>
              <a:rPr lang="vi-VN" sz="3000" b="1" i="0" u="none" strike="noStrike" cap="none" noProof="0" dirty="0">
                <a:solidFill>
                  <a:srgbClr val="102A43"/>
                </a:solidFill>
                <a:latin typeface="Calibri"/>
                <a:ea typeface="Calibri"/>
                <a:cs typeface="Calibri"/>
                <a:sym typeface="Calibri"/>
              </a:rPr>
              <a:t> </a:t>
            </a:r>
            <a:r>
              <a:rPr lang="vi-VN" sz="3000" b="1" noProof="0" dirty="0">
                <a:solidFill>
                  <a:srgbClr val="102A43"/>
                </a:solidFill>
                <a:latin typeface="Calibri"/>
                <a:ea typeface="Calibri"/>
                <a:cs typeface="Calibri"/>
                <a:sym typeface="Calibri"/>
              </a:rPr>
              <a:t>trong </a:t>
            </a:r>
            <a:r>
              <a:rPr lang="vi-VN" sz="3000" b="1" i="0" u="none" strike="noStrike" cap="none" noProof="0" dirty="0">
                <a:solidFill>
                  <a:srgbClr val="102A43"/>
                </a:solidFill>
                <a:latin typeface="Calibri"/>
                <a:ea typeface="Calibri"/>
                <a:cs typeface="Calibri"/>
                <a:sym typeface="Calibri"/>
              </a:rPr>
              <a:t>S-</a:t>
            </a:r>
            <a:r>
              <a:rPr lang="vi-VN" sz="3000" b="1" i="0" u="none" strike="noStrike" cap="none" noProof="0" dirty="0" err="1">
                <a:solidFill>
                  <a:srgbClr val="102A43"/>
                </a:solidFill>
                <a:latin typeface="Calibri"/>
                <a:ea typeface="Calibri"/>
                <a:cs typeface="Calibri"/>
                <a:sym typeface="Calibri"/>
              </a:rPr>
              <a:t>Class</a:t>
            </a:r>
            <a:endParaRPr lang="vi-VN" sz="3000" b="0" i="0" u="none" strike="noStrike" cap="none" noProof="0" dirty="0">
              <a:solidFill>
                <a:schemeClr val="dk1"/>
              </a:solidFill>
              <a:latin typeface="Calibri"/>
              <a:ea typeface="Calibri"/>
              <a:cs typeface="Calibri"/>
              <a:sym typeface="Calibri"/>
            </a:endParaRPr>
          </a:p>
        </p:txBody>
      </p:sp>
      <p:sp>
        <p:nvSpPr>
          <p:cNvPr id="139" name="Google Shape;139;p7"/>
          <p:cNvSpPr txBox="1"/>
          <p:nvPr/>
        </p:nvSpPr>
        <p:spPr>
          <a:xfrm>
            <a:off x="548640" y="932688"/>
            <a:ext cx="110643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Các công cụ quản lý lớp học trong một hệ thống </a:t>
            </a:r>
            <a:r>
              <a:rPr lang="vi-VN" sz="1600" b="1" i="0" u="none" strike="noStrike" cap="none" noProof="0" dirty="0" err="1">
                <a:solidFill>
                  <a:srgbClr val="1E72B8"/>
                </a:solidFill>
                <a:latin typeface="Calibri"/>
                <a:ea typeface="Calibri"/>
                <a:cs typeface="Calibri"/>
                <a:sym typeface="Calibri"/>
              </a:rPr>
              <a:t>thống</a:t>
            </a:r>
            <a:r>
              <a:rPr lang="vi-VN" sz="1600" b="1" i="0" u="none" strike="noStrike" cap="none" noProof="0" dirty="0">
                <a:solidFill>
                  <a:srgbClr val="1E72B8"/>
                </a:solidFill>
                <a:latin typeface="Calibri"/>
                <a:ea typeface="Calibri"/>
                <a:cs typeface="Calibri"/>
                <a:sym typeface="Calibri"/>
              </a:rPr>
              <a:t> nhất.</a:t>
            </a:r>
            <a:endParaRPr lang="vi-VN" sz="1600" b="0" i="0" u="none" strike="noStrike" cap="none" noProof="0" dirty="0">
              <a:solidFill>
                <a:schemeClr val="dk1"/>
              </a:solidFill>
              <a:latin typeface="Calibri"/>
              <a:ea typeface="Calibri"/>
              <a:cs typeface="Calibri"/>
              <a:sym typeface="Calibri"/>
            </a:endParaRPr>
          </a:p>
        </p:txBody>
      </p:sp>
      <p:sp>
        <p:nvSpPr>
          <p:cNvPr id="140" name="Google Shape;140;p7"/>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141" name="Google Shape;141;p7"/>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5</a:t>
            </a:r>
            <a:endParaRPr lang="vi-VN" sz="1000" b="0" i="0" u="none" strike="noStrike" cap="none" noProof="0" dirty="0">
              <a:solidFill>
                <a:schemeClr val="dk1"/>
              </a:solidFill>
              <a:latin typeface="Calibri"/>
              <a:ea typeface="Calibri"/>
              <a:cs typeface="Calibri"/>
              <a:sym typeface="Calibri"/>
            </a:endParaRPr>
          </a:p>
        </p:txBody>
      </p:sp>
      <p:sp>
        <p:nvSpPr>
          <p:cNvPr id="142" name="Google Shape;142;p7"/>
          <p:cNvSpPr/>
          <p:nvPr/>
        </p:nvSpPr>
        <p:spPr>
          <a:xfrm>
            <a:off x="2500090" y="1408118"/>
            <a:ext cx="3291900" cy="178320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43" name="Google Shape;143;p7"/>
          <p:cNvSpPr/>
          <p:nvPr/>
        </p:nvSpPr>
        <p:spPr>
          <a:xfrm>
            <a:off x="2682970" y="1590997"/>
            <a:ext cx="457200" cy="457200"/>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44" name="Google Shape;144;p7"/>
          <p:cNvSpPr txBox="1"/>
          <p:nvPr/>
        </p:nvSpPr>
        <p:spPr>
          <a:xfrm>
            <a:off x="2682970" y="1590997"/>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i="0" u="none" strike="noStrike" cap="none" noProof="0" dirty="0">
                <a:solidFill>
                  <a:srgbClr val="FFFFFF"/>
                </a:solidFill>
                <a:latin typeface="Calibri"/>
                <a:ea typeface="Calibri"/>
                <a:cs typeface="Calibri"/>
                <a:sym typeface="Calibri"/>
              </a:rPr>
              <a:t>1</a:t>
            </a:r>
            <a:endParaRPr lang="vi-VN" sz="1800" b="0" i="0" u="none" strike="noStrike" cap="none" noProof="0" dirty="0">
              <a:solidFill>
                <a:schemeClr val="dk1"/>
              </a:solidFill>
              <a:latin typeface="Calibri"/>
              <a:ea typeface="Calibri"/>
              <a:cs typeface="Calibri"/>
              <a:sym typeface="Calibri"/>
            </a:endParaRPr>
          </a:p>
        </p:txBody>
      </p:sp>
      <p:sp>
        <p:nvSpPr>
          <p:cNvPr id="145" name="Google Shape;145;p7"/>
          <p:cNvSpPr txBox="1"/>
          <p:nvPr/>
        </p:nvSpPr>
        <p:spPr>
          <a:xfrm>
            <a:off x="3277330" y="1590997"/>
            <a:ext cx="2331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Sắp xếp chỗ ngồi</a:t>
            </a:r>
            <a:endParaRPr lang="vi-VN" sz="1700" b="0" i="0" u="none" strike="noStrike" cap="none" noProof="0" dirty="0">
              <a:solidFill>
                <a:schemeClr val="dk1"/>
              </a:solidFill>
              <a:latin typeface="Calibri"/>
              <a:ea typeface="Calibri"/>
              <a:cs typeface="Calibri"/>
              <a:sym typeface="Calibri"/>
            </a:endParaRPr>
          </a:p>
        </p:txBody>
      </p:sp>
      <p:sp>
        <p:nvSpPr>
          <p:cNvPr id="146" name="Google Shape;146;p7"/>
          <p:cNvSpPr txBox="1"/>
          <p:nvPr/>
        </p:nvSpPr>
        <p:spPr>
          <a:xfrm>
            <a:off x="2682970" y="2157926"/>
            <a:ext cx="29262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Xếp ngẫu nhiên theo sơ đồ lớp tùy chỉnh, kèm quy luật riêng.</a:t>
            </a:r>
            <a:endParaRPr lang="vi-VN" sz="1500" b="0" i="0" u="none" strike="noStrike" cap="none" noProof="0" dirty="0">
              <a:solidFill>
                <a:schemeClr val="dk1"/>
              </a:solidFill>
              <a:latin typeface="Calibri"/>
              <a:ea typeface="Calibri"/>
              <a:cs typeface="Calibri"/>
              <a:sym typeface="Calibri"/>
            </a:endParaRPr>
          </a:p>
        </p:txBody>
      </p:sp>
      <p:sp>
        <p:nvSpPr>
          <p:cNvPr id="147" name="Google Shape;147;p7"/>
          <p:cNvSpPr/>
          <p:nvPr/>
        </p:nvSpPr>
        <p:spPr>
          <a:xfrm>
            <a:off x="6400006" y="1408118"/>
            <a:ext cx="3291900" cy="178320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48" name="Google Shape;148;p7"/>
          <p:cNvSpPr/>
          <p:nvPr/>
        </p:nvSpPr>
        <p:spPr>
          <a:xfrm>
            <a:off x="6582886" y="1590997"/>
            <a:ext cx="457200" cy="4572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49" name="Google Shape;149;p7"/>
          <p:cNvSpPr txBox="1"/>
          <p:nvPr/>
        </p:nvSpPr>
        <p:spPr>
          <a:xfrm>
            <a:off x="6582886" y="1590997"/>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i="0" u="none" strike="noStrike" cap="none" noProof="0" dirty="0">
                <a:solidFill>
                  <a:srgbClr val="FFFFFF"/>
                </a:solidFill>
                <a:latin typeface="Calibri"/>
                <a:ea typeface="Calibri"/>
                <a:cs typeface="Calibri"/>
                <a:sym typeface="Calibri"/>
              </a:rPr>
              <a:t>2</a:t>
            </a:r>
            <a:endParaRPr lang="vi-VN" sz="1800" b="0" i="0" u="none" strike="noStrike" cap="none" noProof="0" dirty="0">
              <a:solidFill>
                <a:schemeClr val="dk1"/>
              </a:solidFill>
              <a:latin typeface="Calibri"/>
              <a:ea typeface="Calibri"/>
              <a:cs typeface="Calibri"/>
              <a:sym typeface="Calibri"/>
            </a:endParaRPr>
          </a:p>
        </p:txBody>
      </p:sp>
      <p:sp>
        <p:nvSpPr>
          <p:cNvPr id="150" name="Google Shape;150;p7"/>
          <p:cNvSpPr txBox="1"/>
          <p:nvPr/>
        </p:nvSpPr>
        <p:spPr>
          <a:xfrm>
            <a:off x="7177246" y="1590997"/>
            <a:ext cx="2331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Bầu cử ban cán sự</a:t>
            </a:r>
            <a:endParaRPr lang="vi-VN" sz="1700" b="0" i="0" u="none" strike="noStrike" cap="none" noProof="0" dirty="0">
              <a:solidFill>
                <a:schemeClr val="dk1"/>
              </a:solidFill>
              <a:latin typeface="Calibri"/>
              <a:ea typeface="Calibri"/>
              <a:cs typeface="Calibri"/>
              <a:sym typeface="Calibri"/>
            </a:endParaRPr>
          </a:p>
        </p:txBody>
      </p:sp>
      <p:sp>
        <p:nvSpPr>
          <p:cNvPr id="151" name="Google Shape;151;p7"/>
          <p:cNvSpPr txBox="1"/>
          <p:nvPr/>
        </p:nvSpPr>
        <p:spPr>
          <a:xfrm>
            <a:off x="6582886" y="2157926"/>
            <a:ext cx="29262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Bỏ phiếu kín trong ứng dụng, mỗi tài khoản một phiếu.</a:t>
            </a:r>
            <a:endParaRPr lang="vi-VN" sz="1500" b="0" i="0" u="none" strike="noStrike" cap="none" noProof="0" dirty="0">
              <a:solidFill>
                <a:schemeClr val="dk1"/>
              </a:solidFill>
              <a:latin typeface="Calibri"/>
              <a:ea typeface="Calibri"/>
              <a:cs typeface="Calibri"/>
              <a:sym typeface="Calibri"/>
            </a:endParaRPr>
          </a:p>
        </p:txBody>
      </p:sp>
      <p:sp>
        <p:nvSpPr>
          <p:cNvPr id="152" name="Google Shape;152;p7"/>
          <p:cNvSpPr/>
          <p:nvPr/>
        </p:nvSpPr>
        <p:spPr>
          <a:xfrm>
            <a:off x="548640" y="3520440"/>
            <a:ext cx="329184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53" name="Google Shape;153;p7"/>
          <p:cNvSpPr/>
          <p:nvPr/>
        </p:nvSpPr>
        <p:spPr>
          <a:xfrm>
            <a:off x="731520" y="3703320"/>
            <a:ext cx="457200" cy="4572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54" name="Google Shape;154;p7"/>
          <p:cNvSpPr txBox="1"/>
          <p:nvPr/>
        </p:nvSpPr>
        <p:spPr>
          <a:xfrm>
            <a:off x="731520" y="37033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noProof="0" dirty="0">
                <a:solidFill>
                  <a:srgbClr val="FFFFFF"/>
                </a:solidFill>
                <a:latin typeface="Calibri"/>
                <a:ea typeface="Calibri"/>
                <a:cs typeface="Calibri"/>
                <a:sym typeface="Calibri"/>
              </a:rPr>
              <a:t>3</a:t>
            </a:r>
            <a:endParaRPr lang="vi-VN" sz="1800" b="0" i="0" u="none" strike="noStrike" cap="none" noProof="0" dirty="0">
              <a:solidFill>
                <a:schemeClr val="dk1"/>
              </a:solidFill>
              <a:latin typeface="Calibri"/>
              <a:ea typeface="Calibri"/>
              <a:cs typeface="Calibri"/>
              <a:sym typeface="Calibri"/>
            </a:endParaRPr>
          </a:p>
        </p:txBody>
      </p:sp>
      <p:sp>
        <p:nvSpPr>
          <p:cNvPr id="155" name="Google Shape;155;p7"/>
          <p:cNvSpPr txBox="1"/>
          <p:nvPr/>
        </p:nvSpPr>
        <p:spPr>
          <a:xfrm>
            <a:off x="1325880" y="3703320"/>
            <a:ext cx="2331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Bản tin tuần</a:t>
            </a:r>
            <a:endParaRPr lang="vi-VN" sz="1700" b="0" i="0" u="none" strike="noStrike" cap="none" noProof="0" dirty="0">
              <a:solidFill>
                <a:schemeClr val="dk1"/>
              </a:solidFill>
              <a:latin typeface="Calibri"/>
              <a:ea typeface="Calibri"/>
              <a:cs typeface="Calibri"/>
              <a:sym typeface="Calibri"/>
            </a:endParaRPr>
          </a:p>
        </p:txBody>
      </p:sp>
      <p:sp>
        <p:nvSpPr>
          <p:cNvPr id="156" name="Google Shape;156;p7"/>
          <p:cNvSpPr txBox="1"/>
          <p:nvPr/>
        </p:nvSpPr>
        <p:spPr>
          <a:xfrm>
            <a:off x="731520" y="4270248"/>
            <a:ext cx="292608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Tổng hợp “một tuần của lớp”: soạn, duyệt, đăng.</a:t>
            </a:r>
            <a:endParaRPr lang="vi-VN" sz="1500" b="0" i="0" u="none" strike="noStrike" cap="none" noProof="0" dirty="0">
              <a:solidFill>
                <a:schemeClr val="dk1"/>
              </a:solidFill>
              <a:latin typeface="Calibri"/>
              <a:ea typeface="Calibri"/>
              <a:cs typeface="Calibri"/>
              <a:sym typeface="Calibri"/>
            </a:endParaRPr>
          </a:p>
        </p:txBody>
      </p:sp>
      <p:sp>
        <p:nvSpPr>
          <p:cNvPr id="157" name="Google Shape;157;p7"/>
          <p:cNvSpPr/>
          <p:nvPr/>
        </p:nvSpPr>
        <p:spPr>
          <a:xfrm>
            <a:off x="4448556" y="3520440"/>
            <a:ext cx="329184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58" name="Google Shape;158;p7"/>
          <p:cNvSpPr/>
          <p:nvPr/>
        </p:nvSpPr>
        <p:spPr>
          <a:xfrm>
            <a:off x="4631436" y="3703320"/>
            <a:ext cx="457200" cy="457200"/>
          </a:xfrm>
          <a:prstGeom prst="ellipse">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59" name="Google Shape;159;p7"/>
          <p:cNvSpPr txBox="1"/>
          <p:nvPr/>
        </p:nvSpPr>
        <p:spPr>
          <a:xfrm>
            <a:off x="4631436" y="37033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noProof="0" dirty="0">
                <a:solidFill>
                  <a:srgbClr val="FFFFFF"/>
                </a:solidFill>
                <a:latin typeface="Calibri"/>
                <a:ea typeface="Calibri"/>
                <a:cs typeface="Calibri"/>
                <a:sym typeface="Calibri"/>
              </a:rPr>
              <a:t>4</a:t>
            </a:r>
            <a:endParaRPr lang="vi-VN" sz="1800" b="0" i="0" u="none" strike="noStrike" cap="none" noProof="0" dirty="0">
              <a:solidFill>
                <a:schemeClr val="dk1"/>
              </a:solidFill>
              <a:latin typeface="Calibri"/>
              <a:ea typeface="Calibri"/>
              <a:cs typeface="Calibri"/>
              <a:sym typeface="Calibri"/>
            </a:endParaRPr>
          </a:p>
        </p:txBody>
      </p:sp>
      <p:sp>
        <p:nvSpPr>
          <p:cNvPr id="160" name="Google Shape;160;p7"/>
          <p:cNvSpPr txBox="1"/>
          <p:nvPr/>
        </p:nvSpPr>
        <p:spPr>
          <a:xfrm>
            <a:off x="5225796" y="3703320"/>
            <a:ext cx="2331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Lịch trực nhật</a:t>
            </a:r>
            <a:endParaRPr lang="vi-VN" sz="1700" b="0" i="0" u="none" strike="noStrike" cap="none" noProof="0" dirty="0">
              <a:solidFill>
                <a:schemeClr val="dk1"/>
              </a:solidFill>
              <a:latin typeface="Calibri"/>
              <a:ea typeface="Calibri"/>
              <a:cs typeface="Calibri"/>
              <a:sym typeface="Calibri"/>
            </a:endParaRPr>
          </a:p>
        </p:txBody>
      </p:sp>
      <p:sp>
        <p:nvSpPr>
          <p:cNvPr id="161" name="Google Shape;161;p7"/>
          <p:cNvSpPr txBox="1"/>
          <p:nvPr/>
        </p:nvSpPr>
        <p:spPr>
          <a:xfrm>
            <a:off x="4631436" y="4270248"/>
            <a:ext cx="292608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Phân công </a:t>
            </a:r>
            <a:r>
              <a:rPr lang="vi-VN" sz="1500" b="0" i="0" u="none" strike="noStrike" cap="none" noProof="0" dirty="0" err="1">
                <a:solidFill>
                  <a:srgbClr val="333333"/>
                </a:solidFill>
                <a:latin typeface="Calibri"/>
                <a:ea typeface="Calibri"/>
                <a:cs typeface="Calibri"/>
                <a:sym typeface="Calibri"/>
              </a:rPr>
              <a:t>công</a:t>
            </a:r>
            <a:r>
              <a:rPr lang="vi-VN" sz="1500" b="0" i="0" u="none" strike="noStrike" cap="none" noProof="0" dirty="0">
                <a:solidFill>
                  <a:srgbClr val="333333"/>
                </a:solidFill>
                <a:latin typeface="Calibri"/>
                <a:ea typeface="Calibri"/>
                <a:cs typeface="Calibri"/>
                <a:sym typeface="Calibri"/>
              </a:rPr>
              <a:t> bằng, đổi lịch, thống kê, xuất Excel/PDF.</a:t>
            </a:r>
            <a:endParaRPr lang="vi-VN" sz="1500" b="0" i="0" u="none" strike="noStrike" cap="none" noProof="0" dirty="0">
              <a:solidFill>
                <a:schemeClr val="dk1"/>
              </a:solidFill>
              <a:latin typeface="Calibri"/>
              <a:ea typeface="Calibri"/>
              <a:cs typeface="Calibri"/>
              <a:sym typeface="Calibri"/>
            </a:endParaRPr>
          </a:p>
        </p:txBody>
      </p:sp>
      <p:sp>
        <p:nvSpPr>
          <p:cNvPr id="162" name="Google Shape;162;p7"/>
          <p:cNvSpPr/>
          <p:nvPr/>
        </p:nvSpPr>
        <p:spPr>
          <a:xfrm>
            <a:off x="8348472" y="3520440"/>
            <a:ext cx="3291840" cy="1783080"/>
          </a:xfrm>
          <a:prstGeom prst="roundRect">
            <a:avLst>
              <a:gd name="adj" fmla="val 4103"/>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63" name="Google Shape;163;p7"/>
          <p:cNvSpPr/>
          <p:nvPr/>
        </p:nvSpPr>
        <p:spPr>
          <a:xfrm>
            <a:off x="8531352" y="3703320"/>
            <a:ext cx="457200" cy="457200"/>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64" name="Google Shape;164;p7"/>
          <p:cNvSpPr txBox="1"/>
          <p:nvPr/>
        </p:nvSpPr>
        <p:spPr>
          <a:xfrm>
            <a:off x="8531352" y="37033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noProof="0" dirty="0">
                <a:solidFill>
                  <a:srgbClr val="FFFFFF"/>
                </a:solidFill>
                <a:latin typeface="Calibri"/>
                <a:ea typeface="Calibri"/>
                <a:cs typeface="Calibri"/>
                <a:sym typeface="Calibri"/>
              </a:rPr>
              <a:t>5</a:t>
            </a:r>
            <a:endParaRPr lang="vi-VN" sz="1800" b="0" i="0" u="none" strike="noStrike" cap="none" noProof="0" dirty="0">
              <a:solidFill>
                <a:schemeClr val="dk1"/>
              </a:solidFill>
              <a:latin typeface="Calibri"/>
              <a:ea typeface="Calibri"/>
              <a:cs typeface="Calibri"/>
              <a:sym typeface="Calibri"/>
            </a:endParaRPr>
          </a:p>
        </p:txBody>
      </p:sp>
      <p:sp>
        <p:nvSpPr>
          <p:cNvPr id="165" name="Google Shape;165;p7"/>
          <p:cNvSpPr txBox="1"/>
          <p:nvPr/>
        </p:nvSpPr>
        <p:spPr>
          <a:xfrm>
            <a:off x="9125712" y="3703320"/>
            <a:ext cx="2331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400"/>
              <a:buFont typeface="Calibri"/>
              <a:buNone/>
            </a:pPr>
            <a:r>
              <a:rPr lang="vi-VN" sz="1700" b="1" i="0" u="none" strike="noStrike" cap="none" noProof="0" dirty="0">
                <a:solidFill>
                  <a:srgbClr val="102A43"/>
                </a:solidFill>
                <a:latin typeface="Calibri"/>
                <a:ea typeface="Calibri"/>
                <a:cs typeface="Calibri"/>
                <a:sym typeface="Calibri"/>
              </a:rPr>
              <a:t>Phân nhóm học tập</a:t>
            </a:r>
            <a:endParaRPr lang="vi-VN" sz="1700" b="0" i="0" u="none" strike="noStrike" cap="none" noProof="0" dirty="0">
              <a:solidFill>
                <a:schemeClr val="dk1"/>
              </a:solidFill>
              <a:latin typeface="Calibri"/>
              <a:ea typeface="Calibri"/>
              <a:cs typeface="Calibri"/>
              <a:sym typeface="Calibri"/>
            </a:endParaRPr>
          </a:p>
        </p:txBody>
      </p:sp>
      <p:sp>
        <p:nvSpPr>
          <p:cNvPr id="166" name="Google Shape;166;p7"/>
          <p:cNvSpPr txBox="1"/>
          <p:nvPr/>
        </p:nvSpPr>
        <p:spPr>
          <a:xfrm>
            <a:off x="8531352" y="4270248"/>
            <a:ext cx="292608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Chia nhóm ngẫu nhiên có ràng buộc, lưu theo môn học.</a:t>
            </a:r>
            <a:endParaRPr lang="vi-VN" sz="1500" b="0" i="0" u="none" strike="noStrike" cap="none" noProof="0" dirty="0">
              <a:solidFill>
                <a:schemeClr val="dk1"/>
              </a:solidFill>
              <a:latin typeface="Calibri"/>
              <a:ea typeface="Calibri"/>
              <a:cs typeface="Calibri"/>
              <a:sym typeface="Calibri"/>
            </a:endParaRPr>
          </a:p>
        </p:txBody>
      </p:sp>
      <p:sp>
        <p:nvSpPr>
          <p:cNvPr id="167" name="Google Shape;167;p7"/>
          <p:cNvSpPr/>
          <p:nvPr/>
        </p:nvSpPr>
        <p:spPr>
          <a:xfrm>
            <a:off x="548640" y="5577840"/>
            <a:ext cx="11091672" cy="548640"/>
          </a:xfrm>
          <a:prstGeom prst="roundRect">
            <a:avLst>
              <a:gd name="adj" fmla="val 16667"/>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168" name="Google Shape;168;p7"/>
          <p:cNvSpPr txBox="1"/>
          <p:nvPr/>
        </p:nvSpPr>
        <p:spPr>
          <a:xfrm>
            <a:off x="731520" y="5577840"/>
            <a:ext cx="1072591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Dữ liệu kết nối giữa các phân hệ: Bản tin tuần tự lấy từ Hoạt động, Trực nhật và Phân nhóm.</a:t>
            </a:r>
            <a:endParaRPr lang="vi-VN" sz="17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Shape 173"/>
        <p:cNvGrpSpPr/>
        <p:nvPr/>
      </p:nvGrpSpPr>
      <p:grpSpPr>
        <a:xfrm>
          <a:off x="0" y="0"/>
          <a:ext cx="0" cy="0"/>
          <a:chOff x="0" y="0"/>
          <a:chExt cx="0" cy="0"/>
        </a:xfrm>
      </p:grpSpPr>
      <p:sp>
        <p:nvSpPr>
          <p:cNvPr id="174" name="Google Shape;174;p8"/>
          <p:cNvSpPr txBox="1"/>
          <p:nvPr/>
        </p:nvSpPr>
        <p:spPr>
          <a:xfrm>
            <a:off x="548640" y="347472"/>
            <a:ext cx="11064300" cy="54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2800" b="1" noProof="0" dirty="0">
                <a:solidFill>
                  <a:srgbClr val="102A43"/>
                </a:solidFill>
                <a:latin typeface="Calibri"/>
                <a:ea typeface="Calibri"/>
                <a:cs typeface="Calibri"/>
                <a:sym typeface="Calibri"/>
              </a:rPr>
              <a:t>Giao diện phần mềm</a:t>
            </a:r>
            <a:endParaRPr lang="vi-VN" sz="2800" b="0" i="0" u="none" strike="noStrike" cap="none" noProof="0" dirty="0">
              <a:solidFill>
                <a:schemeClr val="dk1"/>
              </a:solidFill>
              <a:latin typeface="Calibri"/>
              <a:ea typeface="Calibri"/>
              <a:cs typeface="Calibri"/>
              <a:sym typeface="Calibri"/>
            </a:endParaRPr>
          </a:p>
        </p:txBody>
      </p:sp>
      <p:sp>
        <p:nvSpPr>
          <p:cNvPr id="175" name="Google Shape;175;p8"/>
          <p:cNvSpPr txBox="1"/>
          <p:nvPr/>
        </p:nvSpPr>
        <p:spPr>
          <a:xfrm>
            <a:off x="548640" y="932688"/>
            <a:ext cx="110643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endParaRPr lang="vi-VN" sz="1400" b="0" i="0" u="none" strike="noStrike" cap="none" noProof="0" dirty="0">
              <a:solidFill>
                <a:srgbClr val="22B8CF"/>
              </a:solidFill>
              <a:latin typeface="Calibri"/>
              <a:ea typeface="Calibri"/>
              <a:cs typeface="Calibri"/>
              <a:sym typeface="Calibri"/>
            </a:endParaRPr>
          </a:p>
        </p:txBody>
      </p:sp>
      <p:sp>
        <p:nvSpPr>
          <p:cNvPr id="176" name="Google Shape;176;p8"/>
          <p:cNvSpPr txBox="1"/>
          <p:nvPr/>
        </p:nvSpPr>
        <p:spPr>
          <a:xfrm>
            <a:off x="548640" y="6400800"/>
            <a:ext cx="91440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177" name="Google Shape;177;p8"/>
          <p:cNvSpPr txBox="1"/>
          <p:nvPr/>
        </p:nvSpPr>
        <p:spPr>
          <a:xfrm>
            <a:off x="11155680" y="6400800"/>
            <a:ext cx="484500" cy="2742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5</a:t>
            </a:r>
            <a:endParaRPr lang="vi-VN" sz="1000" b="0" i="0" u="none" strike="noStrike" cap="none" noProof="0" dirty="0">
              <a:solidFill>
                <a:schemeClr val="dk1"/>
              </a:solidFill>
              <a:latin typeface="Calibri"/>
              <a:ea typeface="Calibri"/>
              <a:cs typeface="Calibri"/>
              <a:sym typeface="Calibri"/>
            </a:endParaRPr>
          </a:p>
        </p:txBody>
      </p:sp>
      <p:sp>
        <p:nvSpPr>
          <p:cNvPr id="178" name="Google Shape;178;p8"/>
          <p:cNvSpPr txBox="1"/>
          <p:nvPr/>
        </p:nvSpPr>
        <p:spPr>
          <a:xfrm>
            <a:off x="548640" y="347472"/>
            <a:ext cx="10972800" cy="54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2800"/>
              <a:buFont typeface="Calibri"/>
              <a:buNone/>
            </a:pPr>
            <a:r>
              <a:rPr lang="vi-VN" sz="3400" b="1" noProof="0" dirty="0">
                <a:solidFill>
                  <a:srgbClr val="FFFFFF"/>
                </a:solidFill>
                <a:latin typeface="Calibri"/>
                <a:ea typeface="Calibri"/>
                <a:cs typeface="Calibri"/>
                <a:sym typeface="Calibri"/>
              </a:rPr>
              <a:t>Giao diện phần mềm</a:t>
            </a:r>
            <a:endParaRPr lang="vi-VN" sz="3400" b="0" i="0" u="none" strike="noStrike" cap="none" noProof="0" dirty="0">
              <a:solidFill>
                <a:schemeClr val="dk1"/>
              </a:solidFill>
              <a:latin typeface="Calibri"/>
              <a:ea typeface="Calibri"/>
              <a:cs typeface="Calibri"/>
              <a:sym typeface="Calibri"/>
            </a:endParaRPr>
          </a:p>
        </p:txBody>
      </p:sp>
      <p:sp>
        <p:nvSpPr>
          <p:cNvPr id="179" name="Google Shape;179;p8"/>
          <p:cNvSpPr txBox="1"/>
          <p:nvPr/>
        </p:nvSpPr>
        <p:spPr>
          <a:xfrm>
            <a:off x="548640" y="6035040"/>
            <a:ext cx="82296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FD7EA"/>
              </a:buClr>
              <a:buSzPts val="1100"/>
              <a:buFont typeface="Calibri"/>
              <a:buNone/>
            </a:pPr>
            <a:r>
              <a:rPr lang="vi-VN" sz="1100" b="0" i="0" u="none" strike="noStrike" cap="none" noProof="0" dirty="0">
                <a:solidFill>
                  <a:srgbClr val="BFD7EA"/>
                </a:solidFill>
                <a:latin typeface="Calibri"/>
                <a:ea typeface="Calibri"/>
                <a:cs typeface="Calibri"/>
                <a:sym typeface="Calibri"/>
              </a:rPr>
              <a:t>Tài liệu tham khảo: </a:t>
            </a:r>
            <a:r>
              <a:rPr lang="vi-VN" sz="1100" b="0" i="0" u="none" strike="noStrike" cap="none" noProof="0" dirty="0" err="1">
                <a:solidFill>
                  <a:srgbClr val="BFD7EA"/>
                </a:solidFill>
                <a:latin typeface="Calibri"/>
                <a:ea typeface="Calibri"/>
                <a:cs typeface="Calibri"/>
                <a:sym typeface="Calibri"/>
              </a:rPr>
              <a:t>react.dev</a:t>
            </a:r>
            <a:r>
              <a:rPr lang="vi-VN" sz="1100" b="0" i="0" u="none" strike="noStrike" cap="none" noProof="0" dirty="0">
                <a:solidFill>
                  <a:srgbClr val="BFD7EA"/>
                </a:solidFill>
                <a:latin typeface="Calibri"/>
                <a:ea typeface="Calibri"/>
                <a:cs typeface="Calibri"/>
                <a:sym typeface="Calibri"/>
              </a:rPr>
              <a:t>/</a:t>
            </a:r>
            <a:r>
              <a:rPr lang="vi-VN" sz="1100" b="0" i="0" u="none" strike="noStrike" cap="none" noProof="0" dirty="0" err="1">
                <a:solidFill>
                  <a:srgbClr val="BFD7EA"/>
                </a:solidFill>
                <a:latin typeface="Calibri"/>
                <a:ea typeface="Calibri"/>
                <a:cs typeface="Calibri"/>
                <a:sym typeface="Calibri"/>
              </a:rPr>
              <a:t>learn</a:t>
            </a:r>
            <a:r>
              <a:rPr lang="vi-VN" sz="1100" b="0" i="0" u="none" strike="noStrike" cap="none" noProof="0" dirty="0">
                <a:solidFill>
                  <a:srgbClr val="BFD7EA"/>
                </a:solidFill>
                <a:latin typeface="Calibri"/>
                <a:ea typeface="Calibri"/>
                <a:cs typeface="Calibri"/>
                <a:sym typeface="Calibri"/>
              </a:rPr>
              <a:t> • mongodb.com/</a:t>
            </a:r>
            <a:r>
              <a:rPr lang="vi-VN" sz="1100" b="0" i="0" u="none" strike="noStrike" cap="none" noProof="0" dirty="0" err="1">
                <a:solidFill>
                  <a:srgbClr val="BFD7EA"/>
                </a:solidFill>
                <a:latin typeface="Calibri"/>
                <a:ea typeface="Calibri"/>
                <a:cs typeface="Calibri"/>
                <a:sym typeface="Calibri"/>
              </a:rPr>
              <a:t>docs</a:t>
            </a:r>
            <a:r>
              <a:rPr lang="vi-VN" sz="1100" b="0" i="0" u="none" strike="noStrike" cap="none" noProof="0" dirty="0">
                <a:solidFill>
                  <a:srgbClr val="BFD7EA"/>
                </a:solidFill>
                <a:latin typeface="Calibri"/>
                <a:ea typeface="Calibri"/>
                <a:cs typeface="Calibri"/>
                <a:sym typeface="Calibri"/>
              </a:rPr>
              <a:t> • docs.netlify.com</a:t>
            </a:r>
            <a:endParaRPr lang="vi-VN" sz="1100" b="0" i="0" u="none" strike="noStrike" cap="none" noProof="0" dirty="0">
              <a:solidFill>
                <a:schemeClr val="dk1"/>
              </a:solidFill>
              <a:latin typeface="Calibri"/>
              <a:ea typeface="Calibri"/>
              <a:cs typeface="Calibri"/>
              <a:sym typeface="Calibri"/>
            </a:endParaRPr>
          </a:p>
        </p:txBody>
      </p:sp>
      <p:sp>
        <p:nvSpPr>
          <p:cNvPr id="180" name="Google Shape;180;p8"/>
          <p:cNvSpPr txBox="1"/>
          <p:nvPr/>
        </p:nvSpPr>
        <p:spPr>
          <a:xfrm>
            <a:off x="11155680" y="6400800"/>
            <a:ext cx="484500" cy="2742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BFD7EA"/>
              </a:buClr>
              <a:buSzPts val="1000"/>
              <a:buFont typeface="Calibri"/>
              <a:buNone/>
            </a:pPr>
            <a:r>
              <a:rPr lang="vi-VN" sz="1000" b="0" i="0" u="none" strike="noStrike" cap="none" noProof="0" dirty="0">
                <a:solidFill>
                  <a:srgbClr val="BFD7EA"/>
                </a:solidFill>
                <a:latin typeface="Calibri"/>
                <a:ea typeface="Calibri"/>
                <a:cs typeface="Calibri"/>
                <a:sym typeface="Calibri"/>
              </a:rPr>
              <a:t>10</a:t>
            </a:r>
            <a:endParaRPr lang="vi-VN" sz="1000" b="0" i="0" u="none" strike="noStrike" cap="none" noProof="0" dirty="0">
              <a:solidFill>
                <a:schemeClr val="dk1"/>
              </a:solidFill>
              <a:latin typeface="Calibri"/>
              <a:ea typeface="Calibri"/>
              <a:cs typeface="Calibri"/>
              <a:sym typeface="Calibri"/>
            </a:endParaRPr>
          </a:p>
        </p:txBody>
      </p:sp>
      <p:pic>
        <p:nvPicPr>
          <p:cNvPr id="181" name="Google Shape;181;p8" title="Gemini_Generated_Image_7bnp9j7bnp9j7bnp.png"/>
          <p:cNvPicPr preferRelativeResize="0"/>
          <p:nvPr/>
        </p:nvPicPr>
        <p:blipFill>
          <a:blip r:embed="rId3">
            <a:alphaModFix/>
          </a:blip>
          <a:stretch>
            <a:fillRect/>
          </a:stretch>
        </p:blipFill>
        <p:spPr>
          <a:xfrm>
            <a:off x="473075" y="1298400"/>
            <a:ext cx="8047244" cy="4491450"/>
          </a:xfrm>
          <a:prstGeom prst="rect">
            <a:avLst/>
          </a:prstGeom>
          <a:noFill/>
          <a:ln>
            <a:noFill/>
          </a:ln>
        </p:spPr>
      </p:pic>
      <p:sp>
        <p:nvSpPr>
          <p:cNvPr id="182" name="Google Shape;182;p8"/>
          <p:cNvSpPr txBox="1"/>
          <p:nvPr/>
        </p:nvSpPr>
        <p:spPr>
          <a:xfrm>
            <a:off x="9016625" y="3211250"/>
            <a:ext cx="2897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VN" sz="3000" noProof="0" dirty="0">
                <a:solidFill>
                  <a:schemeClr val="lt1"/>
                </a:solidFill>
                <a:latin typeface="Roboto"/>
                <a:ea typeface="Roboto"/>
                <a:cs typeface="Roboto"/>
                <a:sym typeface="Roboto"/>
              </a:rPr>
              <a:t>TRANG CHỦ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187"/>
        <p:cNvGrpSpPr/>
        <p:nvPr/>
      </p:nvGrpSpPr>
      <p:grpSpPr>
        <a:xfrm>
          <a:off x="0" y="0"/>
          <a:ext cx="0" cy="0"/>
          <a:chOff x="0" y="0"/>
          <a:chExt cx="0" cy="0"/>
        </a:xfrm>
      </p:grpSpPr>
      <p:sp>
        <p:nvSpPr>
          <p:cNvPr id="188" name="Google Shape;188;p9"/>
          <p:cNvSpPr txBox="1"/>
          <p:nvPr/>
        </p:nvSpPr>
        <p:spPr>
          <a:xfrm>
            <a:off x="548640" y="347472"/>
            <a:ext cx="11064300" cy="54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5. Sắp xếp chỗ ngồi và bầu cử ban cán sự</a:t>
            </a:r>
            <a:endParaRPr lang="vi-VN" sz="3000" b="0" i="0" u="none" strike="noStrike" cap="none" noProof="0" dirty="0">
              <a:solidFill>
                <a:schemeClr val="dk1"/>
              </a:solidFill>
              <a:latin typeface="Calibri"/>
              <a:ea typeface="Calibri"/>
              <a:cs typeface="Calibri"/>
              <a:sym typeface="Calibri"/>
            </a:endParaRPr>
          </a:p>
        </p:txBody>
      </p:sp>
      <p:sp>
        <p:nvSpPr>
          <p:cNvPr id="189" name="Google Shape;189;p9"/>
          <p:cNvSpPr txBox="1"/>
          <p:nvPr/>
        </p:nvSpPr>
        <p:spPr>
          <a:xfrm>
            <a:off x="548640" y="932688"/>
            <a:ext cx="110643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Hai phân hệ đầu tiên: công bằng, ngẫu nhiên và bí mật.</a:t>
            </a:r>
            <a:endParaRPr lang="vi-VN" sz="1600" b="0" i="0" u="none" strike="noStrike" cap="none" noProof="0" dirty="0">
              <a:solidFill>
                <a:schemeClr val="dk1"/>
              </a:solidFill>
              <a:latin typeface="Calibri"/>
              <a:ea typeface="Calibri"/>
              <a:cs typeface="Calibri"/>
              <a:sym typeface="Calibri"/>
            </a:endParaRPr>
          </a:p>
        </p:txBody>
      </p:sp>
      <p:sp>
        <p:nvSpPr>
          <p:cNvPr id="190" name="Google Shape;190;p9"/>
          <p:cNvSpPr txBox="1"/>
          <p:nvPr/>
        </p:nvSpPr>
        <p:spPr>
          <a:xfrm>
            <a:off x="548640" y="6400800"/>
            <a:ext cx="91440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191" name="Google Shape;191;p9"/>
          <p:cNvSpPr txBox="1"/>
          <p:nvPr/>
        </p:nvSpPr>
        <p:spPr>
          <a:xfrm>
            <a:off x="11155680" y="6400800"/>
            <a:ext cx="484500" cy="2742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6</a:t>
            </a:r>
            <a:endParaRPr lang="vi-VN" sz="1000" b="0" i="0" u="none" strike="noStrike" cap="none" noProof="0" dirty="0">
              <a:solidFill>
                <a:schemeClr val="dk1"/>
              </a:solidFill>
              <a:latin typeface="Calibri"/>
              <a:ea typeface="Calibri"/>
              <a:cs typeface="Calibri"/>
              <a:sym typeface="Calibri"/>
            </a:endParaRPr>
          </a:p>
        </p:txBody>
      </p:sp>
      <p:sp>
        <p:nvSpPr>
          <p:cNvPr id="192" name="Google Shape;192;p9"/>
          <p:cNvSpPr/>
          <p:nvPr/>
        </p:nvSpPr>
        <p:spPr>
          <a:xfrm>
            <a:off x="548640" y="1554480"/>
            <a:ext cx="5440800" cy="3931800"/>
          </a:xfrm>
          <a:prstGeom prst="roundRect">
            <a:avLst>
              <a:gd name="adj" fmla="val 186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193" name="Google Shape;193;p9"/>
          <p:cNvSpPr/>
          <p:nvPr/>
        </p:nvSpPr>
        <p:spPr>
          <a:xfrm>
            <a:off x="777240" y="1719072"/>
            <a:ext cx="457200" cy="457200"/>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194" name="Google Shape;194;p9"/>
          <p:cNvSpPr txBox="1"/>
          <p:nvPr/>
        </p:nvSpPr>
        <p:spPr>
          <a:xfrm>
            <a:off x="777240" y="1719072"/>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700" b="1" i="0" u="none" strike="noStrike" cap="none" noProof="0" dirty="0">
                <a:solidFill>
                  <a:srgbClr val="FFFFFF"/>
                </a:solidFill>
                <a:latin typeface="Calibri"/>
                <a:ea typeface="Calibri"/>
                <a:cs typeface="Calibri"/>
                <a:sym typeface="Calibri"/>
              </a:rPr>
              <a:t>1</a:t>
            </a:r>
            <a:endParaRPr lang="vi-VN" sz="1700" b="0" i="0" u="none" strike="noStrike" cap="none" noProof="0" dirty="0">
              <a:solidFill>
                <a:schemeClr val="dk1"/>
              </a:solidFill>
              <a:latin typeface="Calibri"/>
              <a:ea typeface="Calibri"/>
              <a:cs typeface="Calibri"/>
              <a:sym typeface="Calibri"/>
            </a:endParaRPr>
          </a:p>
        </p:txBody>
      </p:sp>
      <p:sp>
        <p:nvSpPr>
          <p:cNvPr id="195" name="Google Shape;195;p9"/>
          <p:cNvSpPr txBox="1"/>
          <p:nvPr/>
        </p:nvSpPr>
        <p:spPr>
          <a:xfrm>
            <a:off x="1371600" y="1719072"/>
            <a:ext cx="438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700"/>
              <a:buFont typeface="Calibri"/>
              <a:buNone/>
            </a:pPr>
            <a:r>
              <a:rPr lang="vi-VN" sz="1900" b="1" i="0" u="none" strike="noStrike" cap="none" noProof="0" dirty="0">
                <a:solidFill>
                  <a:srgbClr val="102A43"/>
                </a:solidFill>
                <a:latin typeface="Calibri"/>
                <a:ea typeface="Calibri"/>
                <a:cs typeface="Calibri"/>
                <a:sym typeface="Calibri"/>
              </a:rPr>
              <a:t>Sắp xếp chỗ ngồi</a:t>
            </a:r>
            <a:endParaRPr lang="vi-VN" sz="1900" b="0" i="0" u="none" strike="noStrike" cap="none" noProof="0" dirty="0">
              <a:solidFill>
                <a:schemeClr val="dk1"/>
              </a:solidFill>
              <a:latin typeface="Calibri"/>
              <a:ea typeface="Calibri"/>
              <a:cs typeface="Calibri"/>
              <a:sym typeface="Calibri"/>
            </a:endParaRPr>
          </a:p>
        </p:txBody>
      </p:sp>
      <p:sp>
        <p:nvSpPr>
          <p:cNvPr id="196" name="Google Shape;196;p9"/>
          <p:cNvSpPr txBox="1"/>
          <p:nvPr/>
        </p:nvSpPr>
        <p:spPr>
          <a:xfrm>
            <a:off x="777249" y="2377450"/>
            <a:ext cx="4731600" cy="1828800"/>
          </a:xfrm>
          <a:prstGeom prst="rect">
            <a:avLst/>
          </a:prstGeom>
          <a:noFill/>
          <a:ln>
            <a:noFill/>
          </a:ln>
        </p:spPr>
        <p:txBody>
          <a:bodyPr spcFirstLastPara="1" wrap="square" lIns="0" tIns="0" rIns="0" bIns="0" anchor="t" anchorCtr="0">
            <a:noAutofit/>
          </a:bodyPr>
          <a:lstStyle/>
          <a:p>
            <a:pPr marL="342900" marR="0" lvl="0" indent="-368300" algn="just" rtl="0">
              <a:spcBef>
                <a:spcPts val="0"/>
              </a:spcBef>
              <a:spcAft>
                <a:spcPts val="0"/>
              </a:spcAft>
              <a:buClr>
                <a:srgbClr val="333333"/>
              </a:buClr>
              <a:buSzPts val="1650"/>
              <a:buFont typeface="Calibri"/>
              <a:buChar char="•"/>
            </a:pPr>
            <a:r>
              <a:rPr lang="vi-VN" sz="1650" b="0" i="0" u="none" strike="noStrike" cap="none" noProof="0" dirty="0">
                <a:solidFill>
                  <a:srgbClr val="333333"/>
                </a:solidFill>
                <a:latin typeface="Calibri"/>
                <a:ea typeface="Calibri"/>
                <a:cs typeface="Calibri"/>
                <a:sym typeface="Calibri"/>
              </a:rPr>
              <a:t>Xếp ngẫu nhiên; tùy chỉnh số dãy, bàn, chỗ; vô hiệu hóa cột, lối đi</a:t>
            </a:r>
            <a:endParaRPr lang="vi-VN" sz="1650" b="0" i="0" u="none" strike="noStrike" cap="none" noProof="0" dirty="0">
              <a:solidFill>
                <a:schemeClr val="dk1"/>
              </a:solidFill>
              <a:latin typeface="Calibri"/>
              <a:ea typeface="Calibri"/>
              <a:cs typeface="Calibri"/>
              <a:sym typeface="Calibri"/>
            </a:endParaRPr>
          </a:p>
          <a:p>
            <a:pPr marL="342900" marR="0" lvl="0" indent="-368300" algn="just" rtl="0">
              <a:spcBef>
                <a:spcPts val="700"/>
              </a:spcBef>
              <a:spcAft>
                <a:spcPts val="0"/>
              </a:spcAft>
              <a:buClr>
                <a:srgbClr val="333333"/>
              </a:buClr>
              <a:buSzPts val="1650"/>
              <a:buFont typeface="Calibri"/>
              <a:buChar char="•"/>
            </a:pPr>
            <a:r>
              <a:rPr lang="vi-VN" sz="1650" b="0" i="0" u="none" strike="noStrike" cap="none" noProof="0" dirty="0">
                <a:solidFill>
                  <a:srgbClr val="333333"/>
                </a:solidFill>
                <a:latin typeface="Calibri"/>
                <a:ea typeface="Calibri"/>
                <a:cs typeface="Calibri"/>
                <a:sym typeface="Calibri"/>
              </a:rPr>
              <a:t>Nhập danh sách thủ công hoặc bằng Excel mẫu</a:t>
            </a:r>
            <a:endParaRPr lang="vi-VN" sz="1650" b="0" i="0" u="none" strike="noStrike" cap="none" noProof="0" dirty="0">
              <a:solidFill>
                <a:schemeClr val="dk1"/>
              </a:solidFill>
              <a:latin typeface="Calibri"/>
              <a:ea typeface="Calibri"/>
              <a:cs typeface="Calibri"/>
              <a:sym typeface="Calibri"/>
            </a:endParaRPr>
          </a:p>
          <a:p>
            <a:pPr marL="342900" marR="0" lvl="0" indent="-368300" algn="just" rtl="0">
              <a:spcBef>
                <a:spcPts val="700"/>
              </a:spcBef>
              <a:spcAft>
                <a:spcPts val="0"/>
              </a:spcAft>
              <a:buClr>
                <a:srgbClr val="333333"/>
              </a:buClr>
              <a:buSzPts val="1650"/>
              <a:buFont typeface="Calibri"/>
              <a:buChar char="•"/>
            </a:pPr>
            <a:r>
              <a:rPr lang="vi-VN" sz="1650" b="0" i="0" u="none" strike="noStrike" cap="none" noProof="0" dirty="0">
                <a:solidFill>
                  <a:srgbClr val="333333"/>
                </a:solidFill>
                <a:latin typeface="Calibri"/>
                <a:ea typeface="Calibri"/>
                <a:cs typeface="Calibri"/>
                <a:sym typeface="Calibri"/>
              </a:rPr>
              <a:t>Quy luật riêng: tách bạn không ngồi gần, xen kẽ nam–nữ, cố định vị trí cho HS cận thị, khiếm thính</a:t>
            </a:r>
            <a:endParaRPr lang="vi-VN" sz="1650" b="0" i="0" u="none" strike="noStrike" cap="none" noProof="0" dirty="0">
              <a:solidFill>
                <a:schemeClr val="dk1"/>
              </a:solidFill>
              <a:latin typeface="Calibri"/>
              <a:ea typeface="Calibri"/>
              <a:cs typeface="Calibri"/>
              <a:sym typeface="Calibri"/>
            </a:endParaRPr>
          </a:p>
        </p:txBody>
      </p:sp>
      <p:sp>
        <p:nvSpPr>
          <p:cNvPr id="197" name="Google Shape;197;p9"/>
          <p:cNvSpPr/>
          <p:nvPr/>
        </p:nvSpPr>
        <p:spPr>
          <a:xfrm>
            <a:off x="6199632" y="1554480"/>
            <a:ext cx="5440800" cy="3931800"/>
          </a:xfrm>
          <a:prstGeom prst="roundRect">
            <a:avLst>
              <a:gd name="adj" fmla="val 186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198" name="Google Shape;198;p9"/>
          <p:cNvSpPr/>
          <p:nvPr/>
        </p:nvSpPr>
        <p:spPr>
          <a:xfrm>
            <a:off x="6428232" y="1719072"/>
            <a:ext cx="457200" cy="4572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199" name="Google Shape;199;p9"/>
          <p:cNvSpPr txBox="1"/>
          <p:nvPr/>
        </p:nvSpPr>
        <p:spPr>
          <a:xfrm>
            <a:off x="6428232" y="1719072"/>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700" b="1" i="0" u="none" strike="noStrike" cap="none" noProof="0" dirty="0">
                <a:solidFill>
                  <a:srgbClr val="FFFFFF"/>
                </a:solidFill>
                <a:latin typeface="Calibri"/>
                <a:ea typeface="Calibri"/>
                <a:cs typeface="Calibri"/>
                <a:sym typeface="Calibri"/>
              </a:rPr>
              <a:t>2</a:t>
            </a:r>
            <a:endParaRPr lang="vi-VN" sz="1700" b="0" i="0" u="none" strike="noStrike" cap="none" noProof="0" dirty="0">
              <a:solidFill>
                <a:schemeClr val="dk1"/>
              </a:solidFill>
              <a:latin typeface="Calibri"/>
              <a:ea typeface="Calibri"/>
              <a:cs typeface="Calibri"/>
              <a:sym typeface="Calibri"/>
            </a:endParaRPr>
          </a:p>
        </p:txBody>
      </p:sp>
      <p:sp>
        <p:nvSpPr>
          <p:cNvPr id="200" name="Google Shape;200;p9"/>
          <p:cNvSpPr txBox="1"/>
          <p:nvPr/>
        </p:nvSpPr>
        <p:spPr>
          <a:xfrm>
            <a:off x="7022592" y="1719072"/>
            <a:ext cx="438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700"/>
              <a:buFont typeface="Calibri"/>
              <a:buNone/>
            </a:pPr>
            <a:r>
              <a:rPr lang="vi-VN" sz="1900" b="1" i="0" u="none" strike="noStrike" cap="none" noProof="0" dirty="0">
                <a:solidFill>
                  <a:srgbClr val="102A43"/>
                </a:solidFill>
                <a:latin typeface="Calibri"/>
                <a:ea typeface="Calibri"/>
                <a:cs typeface="Calibri"/>
                <a:sym typeface="Calibri"/>
              </a:rPr>
              <a:t>Bầu cử ban cán sự</a:t>
            </a:r>
            <a:endParaRPr lang="vi-VN" sz="1900" b="0" i="0" u="none" strike="noStrike" cap="none" noProof="0" dirty="0">
              <a:solidFill>
                <a:schemeClr val="dk1"/>
              </a:solidFill>
              <a:latin typeface="Calibri"/>
              <a:ea typeface="Calibri"/>
              <a:cs typeface="Calibri"/>
              <a:sym typeface="Calibri"/>
            </a:endParaRPr>
          </a:p>
        </p:txBody>
      </p:sp>
      <p:sp>
        <p:nvSpPr>
          <p:cNvPr id="201" name="Google Shape;201;p9"/>
          <p:cNvSpPr txBox="1"/>
          <p:nvPr/>
        </p:nvSpPr>
        <p:spPr>
          <a:xfrm>
            <a:off x="6428226" y="2377450"/>
            <a:ext cx="4538700" cy="1828800"/>
          </a:xfrm>
          <a:prstGeom prst="rect">
            <a:avLst/>
          </a:prstGeom>
          <a:noFill/>
          <a:ln>
            <a:noFill/>
          </a:ln>
        </p:spPr>
        <p:txBody>
          <a:bodyPr spcFirstLastPara="1" wrap="square" lIns="0" tIns="0" rIns="0" bIns="0" anchor="t" anchorCtr="0">
            <a:noAutofit/>
          </a:bodyPr>
          <a:lstStyle/>
          <a:p>
            <a:pPr marL="342900" marR="0" lvl="0" indent="-368300" algn="just" rtl="0">
              <a:spcBef>
                <a:spcPts val="0"/>
              </a:spcBef>
              <a:spcAft>
                <a:spcPts val="0"/>
              </a:spcAft>
              <a:buClr>
                <a:srgbClr val="333333"/>
              </a:buClr>
              <a:buSzPts val="1650"/>
              <a:buFont typeface="Calibri"/>
              <a:buChar char="•"/>
            </a:pPr>
            <a:r>
              <a:rPr lang="vi-VN" sz="1650" b="0" i="0" u="none" strike="noStrike" cap="none" noProof="0" dirty="0">
                <a:solidFill>
                  <a:srgbClr val="333333"/>
                </a:solidFill>
                <a:latin typeface="Calibri"/>
                <a:ea typeface="Calibri"/>
                <a:cs typeface="Calibri"/>
                <a:sym typeface="Calibri"/>
              </a:rPr>
              <a:t>GVCN tạo cuộc bầu; thành viên đăng nhập và bỏ phiếu trong ứng dụng</a:t>
            </a:r>
            <a:endParaRPr lang="vi-VN" sz="1650" b="0" i="0" u="none" strike="noStrike" cap="none" noProof="0" dirty="0">
              <a:solidFill>
                <a:schemeClr val="dk1"/>
              </a:solidFill>
              <a:latin typeface="Calibri"/>
              <a:ea typeface="Calibri"/>
              <a:cs typeface="Calibri"/>
              <a:sym typeface="Calibri"/>
            </a:endParaRPr>
          </a:p>
          <a:p>
            <a:pPr marL="342900" marR="0" lvl="0" indent="-368300" algn="just" rtl="0">
              <a:spcBef>
                <a:spcPts val="700"/>
              </a:spcBef>
              <a:spcAft>
                <a:spcPts val="0"/>
              </a:spcAft>
              <a:buClr>
                <a:srgbClr val="333333"/>
              </a:buClr>
              <a:buSzPts val="1650"/>
              <a:buFont typeface="Calibri"/>
              <a:buChar char="•"/>
            </a:pPr>
            <a:r>
              <a:rPr lang="vi-VN" sz="1650" b="0" i="0" u="none" strike="noStrike" cap="none" noProof="0" dirty="0">
                <a:solidFill>
                  <a:srgbClr val="333333"/>
                </a:solidFill>
                <a:latin typeface="Calibri"/>
                <a:ea typeface="Calibri"/>
                <a:cs typeface="Calibri"/>
                <a:sym typeface="Calibri"/>
              </a:rPr>
              <a:t>Mỗi tài khoản chỉ một phiếu cho mỗi chức danh</a:t>
            </a:r>
            <a:endParaRPr lang="vi-VN" sz="1650" b="0" i="0" u="none" strike="noStrike" cap="none" noProof="0" dirty="0">
              <a:solidFill>
                <a:schemeClr val="dk1"/>
              </a:solidFill>
              <a:latin typeface="Calibri"/>
              <a:ea typeface="Calibri"/>
              <a:cs typeface="Calibri"/>
              <a:sym typeface="Calibri"/>
            </a:endParaRPr>
          </a:p>
          <a:p>
            <a:pPr marL="342900" marR="0" lvl="0" indent="-368300" algn="just" rtl="0">
              <a:spcBef>
                <a:spcPts val="700"/>
              </a:spcBef>
              <a:spcAft>
                <a:spcPts val="0"/>
              </a:spcAft>
              <a:buClr>
                <a:srgbClr val="333333"/>
              </a:buClr>
              <a:buSzPts val="1650"/>
              <a:buFont typeface="Calibri"/>
              <a:buChar char="•"/>
            </a:pPr>
            <a:r>
              <a:rPr lang="vi-VN" sz="1650" b="0" i="0" u="none" strike="noStrike" cap="none" noProof="0" dirty="0">
                <a:solidFill>
                  <a:srgbClr val="333333"/>
                </a:solidFill>
                <a:latin typeface="Calibri"/>
                <a:ea typeface="Calibri"/>
                <a:cs typeface="Calibri"/>
                <a:sym typeface="Calibri"/>
              </a:rPr>
              <a:t>Công bố kết quả khi đóng; đồng phiếu thì bầu lại vòng 2; lưu theo học kỳ</a:t>
            </a:r>
            <a:endParaRPr lang="vi-VN" sz="1650" b="0" i="0" u="none" strike="noStrike" cap="none" noProof="0" dirty="0">
              <a:solidFill>
                <a:schemeClr val="dk1"/>
              </a:solidFill>
              <a:latin typeface="Calibri"/>
              <a:ea typeface="Calibri"/>
              <a:cs typeface="Calibri"/>
              <a:sym typeface="Calibri"/>
            </a:endParaRPr>
          </a:p>
        </p:txBody>
      </p:sp>
      <p:sp>
        <p:nvSpPr>
          <p:cNvPr id="202" name="Google Shape;202;p9"/>
          <p:cNvSpPr/>
          <p:nvPr/>
        </p:nvSpPr>
        <p:spPr>
          <a:xfrm>
            <a:off x="777240" y="43434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3" name="Google Shape;203;p9"/>
          <p:cNvSpPr/>
          <p:nvPr/>
        </p:nvSpPr>
        <p:spPr>
          <a:xfrm>
            <a:off x="1280160" y="43434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4" name="Google Shape;204;p9"/>
          <p:cNvSpPr/>
          <p:nvPr/>
        </p:nvSpPr>
        <p:spPr>
          <a:xfrm>
            <a:off x="1783080" y="4343400"/>
            <a:ext cx="411600" cy="365700"/>
          </a:xfrm>
          <a:prstGeom prst="roundRect">
            <a:avLst>
              <a:gd name="adj" fmla="val 50000"/>
            </a:avLst>
          </a:prstGeom>
          <a:solidFill>
            <a:srgbClr val="D8E1EA"/>
          </a:solidFill>
          <a:ln w="12700" cap="flat" cmpd="sng">
            <a:solidFill>
              <a:srgbClr val="D8E1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5" name="Google Shape;205;p9"/>
          <p:cNvSpPr/>
          <p:nvPr/>
        </p:nvSpPr>
        <p:spPr>
          <a:xfrm>
            <a:off x="2286000" y="43434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6" name="Google Shape;206;p9"/>
          <p:cNvSpPr/>
          <p:nvPr/>
        </p:nvSpPr>
        <p:spPr>
          <a:xfrm>
            <a:off x="2788920" y="43434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7" name="Google Shape;207;p9"/>
          <p:cNvSpPr/>
          <p:nvPr/>
        </p:nvSpPr>
        <p:spPr>
          <a:xfrm>
            <a:off x="3291840" y="43434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8" name="Google Shape;208;p9"/>
          <p:cNvSpPr/>
          <p:nvPr/>
        </p:nvSpPr>
        <p:spPr>
          <a:xfrm>
            <a:off x="777240" y="48006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09" name="Google Shape;209;p9"/>
          <p:cNvSpPr/>
          <p:nvPr/>
        </p:nvSpPr>
        <p:spPr>
          <a:xfrm>
            <a:off x="1280160" y="48006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0" name="Google Shape;210;p9"/>
          <p:cNvSpPr/>
          <p:nvPr/>
        </p:nvSpPr>
        <p:spPr>
          <a:xfrm>
            <a:off x="1783080" y="4800600"/>
            <a:ext cx="411600" cy="365700"/>
          </a:xfrm>
          <a:prstGeom prst="roundRect">
            <a:avLst>
              <a:gd name="adj" fmla="val 50000"/>
            </a:avLst>
          </a:prstGeom>
          <a:solidFill>
            <a:srgbClr val="D8E1EA"/>
          </a:solidFill>
          <a:ln w="12700" cap="flat" cmpd="sng">
            <a:solidFill>
              <a:srgbClr val="D8E1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1" name="Google Shape;211;p9"/>
          <p:cNvSpPr/>
          <p:nvPr/>
        </p:nvSpPr>
        <p:spPr>
          <a:xfrm>
            <a:off x="2286000" y="48006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2" name="Google Shape;212;p9"/>
          <p:cNvSpPr/>
          <p:nvPr/>
        </p:nvSpPr>
        <p:spPr>
          <a:xfrm>
            <a:off x="2788920" y="4800600"/>
            <a:ext cx="411600" cy="365700"/>
          </a:xfrm>
          <a:prstGeom prst="roundRect">
            <a:avLst>
              <a:gd name="adj" fmla="val 5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3" name="Google Shape;213;p9"/>
          <p:cNvSpPr/>
          <p:nvPr/>
        </p:nvSpPr>
        <p:spPr>
          <a:xfrm>
            <a:off x="3291840" y="4800600"/>
            <a:ext cx="411600" cy="365700"/>
          </a:xfrm>
          <a:prstGeom prst="roundRect">
            <a:avLst>
              <a:gd name="adj" fmla="val 50000"/>
            </a:avLst>
          </a:prstGeom>
          <a:solidFill>
            <a:srgbClr val="D8E1EA"/>
          </a:solidFill>
          <a:ln w="12700" cap="flat" cmpd="sng">
            <a:solidFill>
              <a:srgbClr val="D8E1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4" name="Google Shape;214;p9"/>
          <p:cNvSpPr txBox="1"/>
          <p:nvPr/>
        </p:nvSpPr>
        <p:spPr>
          <a:xfrm>
            <a:off x="3840480" y="4434840"/>
            <a:ext cx="2011800" cy="640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100"/>
              <a:buFont typeface="Calibri"/>
              <a:buNone/>
            </a:pPr>
            <a:r>
              <a:rPr lang="vi-VN" sz="1500" b="0" i="0" u="none" strike="noStrike" cap="none" noProof="0" dirty="0">
                <a:solidFill>
                  <a:srgbClr val="718096"/>
                </a:solidFill>
                <a:latin typeface="Calibri"/>
                <a:ea typeface="Calibri"/>
                <a:cs typeface="Calibri"/>
                <a:sym typeface="Calibri"/>
              </a:rPr>
              <a:t>Sơ đồ lớp: ô xám là vị trí vô hiệu hóa</a:t>
            </a:r>
            <a:endParaRPr lang="vi-VN" sz="1500" b="0" i="0" u="none" strike="noStrike" cap="none" noProof="0" dirty="0">
              <a:solidFill>
                <a:schemeClr val="dk1"/>
              </a:solidFill>
              <a:latin typeface="Calibri"/>
              <a:ea typeface="Calibri"/>
              <a:cs typeface="Calibri"/>
              <a:sym typeface="Calibri"/>
            </a:endParaRPr>
          </a:p>
        </p:txBody>
      </p:sp>
      <p:sp>
        <p:nvSpPr>
          <p:cNvPr id="215" name="Google Shape;215;p9"/>
          <p:cNvSpPr/>
          <p:nvPr/>
        </p:nvSpPr>
        <p:spPr>
          <a:xfrm>
            <a:off x="6428232" y="4251960"/>
            <a:ext cx="2011800" cy="868800"/>
          </a:xfrm>
          <a:prstGeom prst="roundRect">
            <a:avLst>
              <a:gd name="adj" fmla="val 10526"/>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6" name="Google Shape;216;p9"/>
          <p:cNvSpPr txBox="1"/>
          <p:nvPr/>
        </p:nvSpPr>
        <p:spPr>
          <a:xfrm>
            <a:off x="6428232" y="4251960"/>
            <a:ext cx="2011800" cy="868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50"/>
              <a:buFont typeface="Calibri"/>
              <a:buNone/>
            </a:pPr>
            <a:r>
              <a:rPr lang="vi-VN" sz="1750" b="1" i="0" u="none" strike="noStrike" cap="none" noProof="0" dirty="0">
                <a:solidFill>
                  <a:srgbClr val="FFFFFF"/>
                </a:solidFill>
                <a:latin typeface="Calibri"/>
                <a:ea typeface="Calibri"/>
                <a:cs typeface="Calibri"/>
                <a:sym typeface="Calibri"/>
              </a:rPr>
              <a:t>Danh sách</a:t>
            </a:r>
            <a:endParaRPr lang="vi-VN" sz="1750" b="0" i="0" u="none" strike="noStrike" cap="none" noProof="0" dirty="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50"/>
              <a:buFont typeface="Calibri"/>
              <a:buNone/>
            </a:pPr>
            <a:r>
              <a:rPr lang="vi-VN" sz="1750" b="1" i="0" u="none" strike="noStrike" cap="none" noProof="0" dirty="0">
                <a:solidFill>
                  <a:srgbClr val="FFFFFF"/>
                </a:solidFill>
                <a:latin typeface="Calibri"/>
                <a:ea typeface="Calibri"/>
                <a:cs typeface="Calibri"/>
                <a:sym typeface="Calibri"/>
              </a:rPr>
              <a:t>đã bỏ phiếu</a:t>
            </a:r>
            <a:endParaRPr lang="vi-VN" sz="1750" b="0" i="0" u="none" strike="noStrike" cap="none" noProof="0" dirty="0">
              <a:solidFill>
                <a:schemeClr val="dk1"/>
              </a:solidFill>
              <a:latin typeface="Calibri"/>
              <a:ea typeface="Calibri"/>
              <a:cs typeface="Calibri"/>
              <a:sym typeface="Calibri"/>
            </a:endParaRPr>
          </a:p>
        </p:txBody>
      </p:sp>
      <p:sp>
        <p:nvSpPr>
          <p:cNvPr id="217" name="Google Shape;217;p9"/>
          <p:cNvSpPr txBox="1"/>
          <p:nvPr/>
        </p:nvSpPr>
        <p:spPr>
          <a:xfrm>
            <a:off x="8458200" y="4526280"/>
            <a:ext cx="822900" cy="320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E45656"/>
              </a:buClr>
              <a:buSzPts val="1100"/>
              <a:buFont typeface="Calibri"/>
              <a:buNone/>
            </a:pPr>
            <a:r>
              <a:rPr lang="vi-VN" sz="1600" b="1" i="0" u="none" strike="noStrike" cap="none" noProof="0" dirty="0">
                <a:solidFill>
                  <a:srgbClr val="E45656"/>
                </a:solidFill>
                <a:latin typeface="Calibri"/>
                <a:ea typeface="Calibri"/>
                <a:cs typeface="Calibri"/>
                <a:sym typeface="Calibri"/>
              </a:rPr>
              <a:t>tách rời</a:t>
            </a:r>
            <a:endParaRPr lang="vi-VN" sz="1600" b="0" i="0" u="none" strike="noStrike" cap="none" noProof="0" dirty="0">
              <a:solidFill>
                <a:schemeClr val="dk1"/>
              </a:solidFill>
              <a:latin typeface="Calibri"/>
              <a:ea typeface="Calibri"/>
              <a:cs typeface="Calibri"/>
              <a:sym typeface="Calibri"/>
            </a:endParaRPr>
          </a:p>
        </p:txBody>
      </p:sp>
      <p:sp>
        <p:nvSpPr>
          <p:cNvPr id="218" name="Google Shape;218;p9"/>
          <p:cNvSpPr/>
          <p:nvPr/>
        </p:nvSpPr>
        <p:spPr>
          <a:xfrm>
            <a:off x="9308592" y="4251960"/>
            <a:ext cx="2011800" cy="868800"/>
          </a:xfrm>
          <a:prstGeom prst="roundRect">
            <a:avLst>
              <a:gd name="adj" fmla="val 10526"/>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19" name="Google Shape;219;p9"/>
          <p:cNvSpPr txBox="1"/>
          <p:nvPr/>
        </p:nvSpPr>
        <p:spPr>
          <a:xfrm>
            <a:off x="9308592" y="4251960"/>
            <a:ext cx="2011800" cy="868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250"/>
              <a:buFont typeface="Calibri"/>
              <a:buNone/>
            </a:pPr>
            <a:r>
              <a:rPr lang="vi-VN" sz="1750" b="1" i="0" u="none" strike="noStrike" cap="none" noProof="0" dirty="0">
                <a:solidFill>
                  <a:srgbClr val="0B1F3A"/>
                </a:solidFill>
                <a:latin typeface="Calibri"/>
                <a:ea typeface="Calibri"/>
                <a:cs typeface="Calibri"/>
                <a:sym typeface="Calibri"/>
              </a:rPr>
              <a:t>Hòm phiếu</a:t>
            </a:r>
            <a:endParaRPr lang="vi-VN" sz="1750" b="0" i="0" u="none" strike="noStrike" cap="none" noProof="0" dirty="0">
              <a:solidFill>
                <a:schemeClr val="dk1"/>
              </a:solidFill>
              <a:latin typeface="Calibri"/>
              <a:ea typeface="Calibri"/>
              <a:cs typeface="Calibri"/>
              <a:sym typeface="Calibri"/>
            </a:endParaRPr>
          </a:p>
          <a:p>
            <a:pPr marL="0" marR="0" lvl="0" indent="0" algn="ctr" rtl="0">
              <a:spcBef>
                <a:spcPts val="0"/>
              </a:spcBef>
              <a:spcAft>
                <a:spcPts val="0"/>
              </a:spcAft>
              <a:buClr>
                <a:srgbClr val="0B1F3A"/>
              </a:buClr>
              <a:buSzPts val="1250"/>
              <a:buFont typeface="Calibri"/>
              <a:buNone/>
            </a:pPr>
            <a:r>
              <a:rPr lang="vi-VN" sz="1750" b="1" i="0" u="none" strike="noStrike" cap="none" noProof="0" dirty="0">
                <a:solidFill>
                  <a:srgbClr val="0B1F3A"/>
                </a:solidFill>
                <a:latin typeface="Calibri"/>
                <a:ea typeface="Calibri"/>
                <a:cs typeface="Calibri"/>
                <a:sym typeface="Calibri"/>
              </a:rPr>
              <a:t>ẩn danh</a:t>
            </a:r>
            <a:endParaRPr lang="vi-VN" sz="1750" b="0" i="0" u="none" strike="noStrike" cap="none" noProof="0" dirty="0">
              <a:solidFill>
                <a:schemeClr val="dk1"/>
              </a:solidFill>
              <a:latin typeface="Calibri"/>
              <a:ea typeface="Calibri"/>
              <a:cs typeface="Calibri"/>
              <a:sym typeface="Calibri"/>
            </a:endParaRPr>
          </a:p>
        </p:txBody>
      </p:sp>
      <p:sp>
        <p:nvSpPr>
          <p:cNvPr id="220" name="Google Shape;220;p9"/>
          <p:cNvSpPr txBox="1"/>
          <p:nvPr/>
        </p:nvSpPr>
        <p:spPr>
          <a:xfrm>
            <a:off x="6428232" y="5166360"/>
            <a:ext cx="4892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100"/>
              <a:buFont typeface="Calibri"/>
              <a:buNone/>
            </a:pPr>
            <a:r>
              <a:rPr lang="vi-VN" sz="1300" b="0" i="0" u="none" strike="noStrike" cap="none" noProof="0" dirty="0">
                <a:solidFill>
                  <a:srgbClr val="718096"/>
                </a:solidFill>
                <a:latin typeface="Calibri"/>
                <a:ea typeface="Calibri"/>
                <a:cs typeface="Calibri"/>
                <a:sym typeface="Calibri"/>
              </a:rPr>
              <a:t>Bí mật nhưng vẫn kiểm tra được: tổng phiếu = số người đã bỏ phiếu</a:t>
            </a:r>
            <a:endParaRPr lang="vi-VN" sz="1300" b="0" i="0" u="none" strike="noStrike" cap="none" noProof="0" dirty="0">
              <a:solidFill>
                <a:schemeClr val="dk1"/>
              </a:solidFill>
              <a:latin typeface="Calibri"/>
              <a:ea typeface="Calibri"/>
              <a:cs typeface="Calibri"/>
              <a:sym typeface="Calibri"/>
            </a:endParaRPr>
          </a:p>
        </p:txBody>
      </p:sp>
      <p:sp>
        <p:nvSpPr>
          <p:cNvPr id="221" name="Google Shape;221;p9"/>
          <p:cNvSpPr/>
          <p:nvPr/>
        </p:nvSpPr>
        <p:spPr>
          <a:xfrm>
            <a:off x="548640" y="5669280"/>
            <a:ext cx="11091600" cy="548700"/>
          </a:xfrm>
          <a:prstGeom prst="roundRect">
            <a:avLst>
              <a:gd name="adj" fmla="val 16667"/>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600" noProof="0" dirty="0"/>
          </a:p>
        </p:txBody>
      </p:sp>
      <p:sp>
        <p:nvSpPr>
          <p:cNvPr id="222" name="Google Shape;222;p9"/>
          <p:cNvSpPr txBox="1"/>
          <p:nvPr/>
        </p:nvSpPr>
        <p:spPr>
          <a:xfrm>
            <a:off x="731520" y="5669280"/>
            <a:ext cx="107259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600" b="1" i="0" u="none" strike="noStrike" cap="none" noProof="0" dirty="0">
                <a:solidFill>
                  <a:srgbClr val="FFFFFF"/>
                </a:solidFill>
                <a:latin typeface="Calibri"/>
                <a:ea typeface="Calibri"/>
                <a:cs typeface="Calibri"/>
                <a:sym typeface="Calibri"/>
              </a:rPr>
              <a:t>Mọi kết quả ngẫu nhiên đều xem lại được; mọi lượt bầu cử đều bí mật và không thể bầu trùng.</a:t>
            </a:r>
            <a:endParaRPr lang="vi-VN" sz="16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227"/>
        <p:cNvGrpSpPr/>
        <p:nvPr/>
      </p:nvGrpSpPr>
      <p:grpSpPr>
        <a:xfrm>
          <a:off x="0" y="0"/>
          <a:ext cx="0" cy="0"/>
          <a:chOff x="0" y="0"/>
          <a:chExt cx="0" cy="0"/>
        </a:xfrm>
      </p:grpSpPr>
      <p:sp>
        <p:nvSpPr>
          <p:cNvPr id="228" name="Google Shape;228;p10"/>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5. Sắp xếp chỗ ngồi và bầu cử ban cán sự</a:t>
            </a:r>
            <a:endParaRPr lang="vi-VN" sz="3000" b="0" i="0" u="none" strike="noStrike" cap="none" noProof="0" dirty="0">
              <a:solidFill>
                <a:schemeClr val="dk1"/>
              </a:solidFill>
              <a:latin typeface="Calibri"/>
              <a:ea typeface="Calibri"/>
              <a:cs typeface="Calibri"/>
              <a:sym typeface="Calibri"/>
            </a:endParaRPr>
          </a:p>
        </p:txBody>
      </p:sp>
      <p:sp>
        <p:nvSpPr>
          <p:cNvPr id="229" name="Google Shape;229;p10"/>
          <p:cNvSpPr txBox="1"/>
          <p:nvPr/>
        </p:nvSpPr>
        <p:spPr>
          <a:xfrm>
            <a:off x="548640" y="932688"/>
            <a:ext cx="110642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Hai phân hệ đầu tiên: công bằng, ngẫu nhiên và bí mật.</a:t>
            </a:r>
            <a:endParaRPr lang="vi-VN" sz="1600" b="0" i="0" u="none" strike="noStrike" cap="none" noProof="0" dirty="0">
              <a:solidFill>
                <a:schemeClr val="dk1"/>
              </a:solidFill>
              <a:latin typeface="Calibri"/>
              <a:ea typeface="Calibri"/>
              <a:cs typeface="Calibri"/>
              <a:sym typeface="Calibri"/>
            </a:endParaRPr>
          </a:p>
        </p:txBody>
      </p:sp>
      <p:sp>
        <p:nvSpPr>
          <p:cNvPr id="230" name="Google Shape;230;p10"/>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231" name="Google Shape;231;p10"/>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6</a:t>
            </a:r>
            <a:endParaRPr lang="vi-VN" sz="1000" b="0" i="0" u="none" strike="noStrike" cap="none" noProof="0" dirty="0">
              <a:solidFill>
                <a:schemeClr val="dk1"/>
              </a:solidFill>
              <a:latin typeface="Calibri"/>
              <a:ea typeface="Calibri"/>
              <a:cs typeface="Calibri"/>
              <a:sym typeface="Calibri"/>
            </a:endParaRPr>
          </a:p>
        </p:txBody>
      </p:sp>
      <p:pic>
        <p:nvPicPr>
          <p:cNvPr id="232" name="Google Shape;232;p10"/>
          <p:cNvPicPr preferRelativeResize="0"/>
          <p:nvPr/>
        </p:nvPicPr>
        <p:blipFill>
          <a:blip r:embed="rId3">
            <a:alphaModFix/>
          </a:blip>
          <a:stretch>
            <a:fillRect/>
          </a:stretch>
        </p:blipFill>
        <p:spPr>
          <a:xfrm>
            <a:off x="4003608" y="1201337"/>
            <a:ext cx="7697415" cy="4870962"/>
          </a:xfrm>
          <a:prstGeom prst="rect">
            <a:avLst/>
          </a:prstGeom>
          <a:noFill/>
          <a:ln>
            <a:noFill/>
          </a:ln>
        </p:spPr>
      </p:pic>
      <p:sp>
        <p:nvSpPr>
          <p:cNvPr id="233" name="Google Shape;233;p10"/>
          <p:cNvSpPr txBox="1"/>
          <p:nvPr/>
        </p:nvSpPr>
        <p:spPr>
          <a:xfrm>
            <a:off x="866150" y="3205250"/>
            <a:ext cx="300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VN" sz="3000" noProof="0" dirty="0">
                <a:solidFill>
                  <a:srgbClr val="102A43"/>
                </a:solidFill>
                <a:latin typeface="Roboto"/>
                <a:ea typeface="Roboto"/>
                <a:cs typeface="Roboto"/>
                <a:sym typeface="Roboto"/>
              </a:rPr>
              <a:t>Hình ảnh trang sơ đồ lớp</a:t>
            </a:r>
            <a:endParaRPr lang="vi-VN" noProof="0" dirty="0">
              <a:solidFill>
                <a:srgbClr val="102A4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238"/>
        <p:cNvGrpSpPr/>
        <p:nvPr/>
      </p:nvGrpSpPr>
      <p:grpSpPr>
        <a:xfrm>
          <a:off x="0" y="0"/>
          <a:ext cx="0" cy="0"/>
          <a:chOff x="0" y="0"/>
          <a:chExt cx="0" cy="0"/>
        </a:xfrm>
      </p:grpSpPr>
      <p:sp>
        <p:nvSpPr>
          <p:cNvPr id="239" name="Google Shape;239;p11"/>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6. Bản tin tuần</a:t>
            </a:r>
            <a:endParaRPr lang="vi-VN" sz="3000" b="0" i="0" u="none" strike="noStrike" cap="none" noProof="0" dirty="0">
              <a:solidFill>
                <a:schemeClr val="dk1"/>
              </a:solidFill>
              <a:latin typeface="Calibri"/>
              <a:ea typeface="Calibri"/>
              <a:cs typeface="Calibri"/>
              <a:sym typeface="Calibri"/>
            </a:endParaRPr>
          </a:p>
        </p:txBody>
      </p:sp>
      <p:sp>
        <p:nvSpPr>
          <p:cNvPr id="240" name="Google Shape;240;p11"/>
          <p:cNvSpPr txBox="1"/>
          <p:nvPr/>
        </p:nvSpPr>
        <p:spPr>
          <a:xfrm>
            <a:off x="548640" y="932688"/>
            <a:ext cx="110642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Trang tổng hợp “một tuần của lớp” – kết nối dữ liệu từ các phân hệ khác.</a:t>
            </a:r>
            <a:endParaRPr lang="vi-VN" sz="1600" b="0" i="0" u="none" strike="noStrike" cap="none" noProof="0" dirty="0">
              <a:solidFill>
                <a:schemeClr val="dk1"/>
              </a:solidFill>
              <a:latin typeface="Calibri"/>
              <a:ea typeface="Calibri"/>
              <a:cs typeface="Calibri"/>
              <a:sym typeface="Calibri"/>
            </a:endParaRPr>
          </a:p>
        </p:txBody>
      </p:sp>
      <p:sp>
        <p:nvSpPr>
          <p:cNvPr id="241" name="Google Shape;241;p11"/>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242" name="Google Shape;242;p11"/>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7</a:t>
            </a:r>
            <a:endParaRPr lang="vi-VN" sz="1000" b="0" i="0" u="none" strike="noStrike" cap="none" noProof="0" dirty="0">
              <a:solidFill>
                <a:schemeClr val="dk1"/>
              </a:solidFill>
              <a:latin typeface="Calibri"/>
              <a:ea typeface="Calibri"/>
              <a:cs typeface="Calibri"/>
              <a:sym typeface="Calibri"/>
            </a:endParaRPr>
          </a:p>
        </p:txBody>
      </p:sp>
      <p:sp>
        <p:nvSpPr>
          <p:cNvPr id="243" name="Google Shape;243;p11"/>
          <p:cNvSpPr/>
          <p:nvPr/>
        </p:nvSpPr>
        <p:spPr>
          <a:xfrm>
            <a:off x="548640" y="1554480"/>
            <a:ext cx="2423160" cy="1005840"/>
          </a:xfrm>
          <a:prstGeom prst="roundRect">
            <a:avLst>
              <a:gd name="adj" fmla="val 9091"/>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44" name="Google Shape;244;p11"/>
          <p:cNvSpPr txBox="1"/>
          <p:nvPr/>
        </p:nvSpPr>
        <p:spPr>
          <a:xfrm>
            <a:off x="685800" y="1554480"/>
            <a:ext cx="2148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250"/>
              <a:buFont typeface="Calibri"/>
              <a:buNone/>
            </a:pPr>
            <a:r>
              <a:rPr lang="vi-VN" sz="1550" b="1" i="0" u="none" strike="noStrike" cap="none" noProof="0" dirty="0">
                <a:solidFill>
                  <a:srgbClr val="0B1F3A"/>
                </a:solidFill>
                <a:latin typeface="Calibri"/>
                <a:ea typeface="Calibri"/>
                <a:cs typeface="Calibri"/>
                <a:sym typeface="Calibri"/>
              </a:rPr>
              <a:t>Cán sự mở bản tin tuần mới</a:t>
            </a:r>
            <a:endParaRPr lang="vi-VN" sz="1550" b="0" i="0" u="none" strike="noStrike" cap="none" noProof="0" dirty="0">
              <a:solidFill>
                <a:schemeClr val="dk1"/>
              </a:solidFill>
              <a:latin typeface="Calibri"/>
              <a:ea typeface="Calibri"/>
              <a:cs typeface="Calibri"/>
              <a:sym typeface="Calibri"/>
            </a:endParaRPr>
          </a:p>
        </p:txBody>
      </p:sp>
      <p:sp>
        <p:nvSpPr>
          <p:cNvPr id="245" name="Google Shape;245;p11"/>
          <p:cNvSpPr/>
          <p:nvPr/>
        </p:nvSpPr>
        <p:spPr>
          <a:xfrm>
            <a:off x="2980944" y="1892808"/>
            <a:ext cx="365760" cy="320040"/>
          </a:xfrm>
          <a:prstGeom prst="rightArrow">
            <a:avLst>
              <a:gd name="adj1" fmla="val 50000"/>
              <a:gd name="adj2" fmla="val 50000"/>
            </a:avLst>
          </a:prstGeom>
          <a:solidFill>
            <a:srgbClr val="718096"/>
          </a:solidFill>
          <a:ln w="12700" cap="flat" cmpd="sng">
            <a:solidFill>
              <a:srgbClr val="7180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46" name="Google Shape;246;p11"/>
          <p:cNvSpPr/>
          <p:nvPr/>
        </p:nvSpPr>
        <p:spPr>
          <a:xfrm>
            <a:off x="3355848" y="1554480"/>
            <a:ext cx="2423160" cy="1005840"/>
          </a:xfrm>
          <a:prstGeom prst="roundRect">
            <a:avLst>
              <a:gd name="adj" fmla="val 9091"/>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47" name="Google Shape;247;p11"/>
          <p:cNvSpPr txBox="1"/>
          <p:nvPr/>
        </p:nvSpPr>
        <p:spPr>
          <a:xfrm>
            <a:off x="3493008" y="1554480"/>
            <a:ext cx="2148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50"/>
              <a:buFont typeface="Calibri"/>
              <a:buNone/>
            </a:pPr>
            <a:r>
              <a:rPr lang="vi-VN" sz="1550" b="1" i="0" u="none" strike="noStrike" cap="none" noProof="0" dirty="0">
                <a:solidFill>
                  <a:srgbClr val="FFFFFF"/>
                </a:solidFill>
                <a:latin typeface="Calibri"/>
                <a:ea typeface="Calibri"/>
                <a:cs typeface="Calibri"/>
                <a:sym typeface="Calibri"/>
              </a:rPr>
              <a:t>Kiểm tra mục tự điền, bổ sung lịch kiểm tra, hạn nộp</a:t>
            </a:r>
            <a:endParaRPr lang="vi-VN" sz="1550" b="0" i="0" u="none" strike="noStrike" cap="none" noProof="0" dirty="0">
              <a:solidFill>
                <a:schemeClr val="dk1"/>
              </a:solidFill>
              <a:latin typeface="Calibri"/>
              <a:ea typeface="Calibri"/>
              <a:cs typeface="Calibri"/>
              <a:sym typeface="Calibri"/>
            </a:endParaRPr>
          </a:p>
        </p:txBody>
      </p:sp>
      <p:sp>
        <p:nvSpPr>
          <p:cNvPr id="248" name="Google Shape;248;p11"/>
          <p:cNvSpPr/>
          <p:nvPr/>
        </p:nvSpPr>
        <p:spPr>
          <a:xfrm>
            <a:off x="5788152" y="1892808"/>
            <a:ext cx="365760" cy="320040"/>
          </a:xfrm>
          <a:prstGeom prst="rightArrow">
            <a:avLst>
              <a:gd name="adj1" fmla="val 50000"/>
              <a:gd name="adj2" fmla="val 50000"/>
            </a:avLst>
          </a:prstGeom>
          <a:solidFill>
            <a:srgbClr val="718096"/>
          </a:solidFill>
          <a:ln w="12700" cap="flat" cmpd="sng">
            <a:solidFill>
              <a:srgbClr val="7180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49" name="Google Shape;249;p11"/>
          <p:cNvSpPr/>
          <p:nvPr/>
        </p:nvSpPr>
        <p:spPr>
          <a:xfrm>
            <a:off x="6163056" y="1554480"/>
            <a:ext cx="2423160" cy="1005840"/>
          </a:xfrm>
          <a:prstGeom prst="roundRect">
            <a:avLst>
              <a:gd name="adj" fmla="val 9091"/>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50" name="Google Shape;250;p11"/>
          <p:cNvSpPr txBox="1"/>
          <p:nvPr/>
        </p:nvSpPr>
        <p:spPr>
          <a:xfrm>
            <a:off x="6300216" y="1554480"/>
            <a:ext cx="2148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250"/>
              <a:buFont typeface="Calibri"/>
              <a:buNone/>
            </a:pPr>
            <a:r>
              <a:rPr lang="vi-VN" sz="1550" b="1" i="0" u="none" strike="noStrike" cap="none" noProof="0" dirty="0">
                <a:solidFill>
                  <a:srgbClr val="0B1F3A"/>
                </a:solidFill>
                <a:latin typeface="Calibri"/>
                <a:ea typeface="Calibri"/>
                <a:cs typeface="Calibri"/>
                <a:sym typeface="Calibri"/>
              </a:rPr>
              <a:t>GVCN duyệt và đăng</a:t>
            </a:r>
            <a:endParaRPr lang="vi-VN" sz="1550" b="0" i="0" u="none" strike="noStrike" cap="none" noProof="0" dirty="0">
              <a:solidFill>
                <a:schemeClr val="dk1"/>
              </a:solidFill>
              <a:latin typeface="Calibri"/>
              <a:ea typeface="Calibri"/>
              <a:cs typeface="Calibri"/>
              <a:sym typeface="Calibri"/>
            </a:endParaRPr>
          </a:p>
        </p:txBody>
      </p:sp>
      <p:sp>
        <p:nvSpPr>
          <p:cNvPr id="251" name="Google Shape;251;p11"/>
          <p:cNvSpPr/>
          <p:nvPr/>
        </p:nvSpPr>
        <p:spPr>
          <a:xfrm>
            <a:off x="8595360" y="1892808"/>
            <a:ext cx="365760" cy="320040"/>
          </a:xfrm>
          <a:prstGeom prst="rightArrow">
            <a:avLst>
              <a:gd name="adj1" fmla="val 50000"/>
              <a:gd name="adj2" fmla="val 50000"/>
            </a:avLst>
          </a:prstGeom>
          <a:solidFill>
            <a:srgbClr val="718096"/>
          </a:solidFill>
          <a:ln w="12700" cap="flat" cmpd="sng">
            <a:solidFill>
              <a:srgbClr val="7180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52" name="Google Shape;252;p11"/>
          <p:cNvSpPr/>
          <p:nvPr/>
        </p:nvSpPr>
        <p:spPr>
          <a:xfrm>
            <a:off x="8970264" y="1554480"/>
            <a:ext cx="2423160" cy="1005840"/>
          </a:xfrm>
          <a:prstGeom prst="roundRect">
            <a:avLst>
              <a:gd name="adj" fmla="val 9091"/>
            </a:avLst>
          </a:prstGeom>
          <a:solidFill>
            <a:srgbClr val="3ECF8E"/>
          </a:solidFill>
          <a:ln w="12700" cap="flat" cmpd="sng">
            <a:solidFill>
              <a:srgbClr val="3ECF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53" name="Google Shape;253;p11"/>
          <p:cNvSpPr txBox="1"/>
          <p:nvPr/>
        </p:nvSpPr>
        <p:spPr>
          <a:xfrm>
            <a:off x="9107424" y="1554480"/>
            <a:ext cx="2148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250"/>
              <a:buFont typeface="Calibri"/>
              <a:buNone/>
            </a:pPr>
            <a:r>
              <a:rPr lang="vi-VN" sz="1550" b="1" i="0" u="none" strike="noStrike" cap="none" noProof="0" dirty="0">
                <a:solidFill>
                  <a:srgbClr val="0B1F3A"/>
                </a:solidFill>
                <a:latin typeface="Calibri"/>
                <a:ea typeface="Calibri"/>
                <a:cs typeface="Calibri"/>
                <a:sym typeface="Calibri"/>
              </a:rPr>
              <a:t>HS nhận thông báo, đánh dấu hoàn thành</a:t>
            </a:r>
            <a:endParaRPr lang="vi-VN" sz="1550" b="0" i="0" u="none" strike="noStrike" cap="none" noProof="0" dirty="0">
              <a:solidFill>
                <a:schemeClr val="dk1"/>
              </a:solidFill>
              <a:latin typeface="Calibri"/>
              <a:ea typeface="Calibri"/>
              <a:cs typeface="Calibri"/>
              <a:sym typeface="Calibri"/>
            </a:endParaRPr>
          </a:p>
        </p:txBody>
      </p:sp>
      <p:sp>
        <p:nvSpPr>
          <p:cNvPr id="254" name="Google Shape;254;p11"/>
          <p:cNvSpPr/>
          <p:nvPr/>
        </p:nvSpPr>
        <p:spPr>
          <a:xfrm>
            <a:off x="548640" y="2788920"/>
            <a:ext cx="3291840" cy="1280160"/>
          </a:xfrm>
          <a:prstGeom prst="roundRect">
            <a:avLst>
              <a:gd name="adj" fmla="val 5714"/>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55" name="Google Shape;255;p11"/>
          <p:cNvSpPr/>
          <p:nvPr/>
        </p:nvSpPr>
        <p:spPr>
          <a:xfrm>
            <a:off x="731520" y="2971800"/>
            <a:ext cx="347472" cy="347472"/>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56" name="Google Shape;256;p11"/>
          <p:cNvSpPr txBox="1"/>
          <p:nvPr/>
        </p:nvSpPr>
        <p:spPr>
          <a:xfrm>
            <a:off x="731520" y="297180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vi-VN" sz="1500" b="1" i="0" u="none" strike="noStrike" cap="none" noProof="0" dirty="0">
                <a:solidFill>
                  <a:srgbClr val="FFFFFF"/>
                </a:solidFill>
                <a:latin typeface="Calibri"/>
                <a:ea typeface="Calibri"/>
                <a:cs typeface="Calibri"/>
                <a:sym typeface="Calibri"/>
              </a:rPr>
              <a:t>1</a:t>
            </a:r>
            <a:endParaRPr lang="vi-VN" sz="1500" b="0" i="0" u="none" strike="noStrike" cap="none" noProof="0" dirty="0">
              <a:solidFill>
                <a:schemeClr val="dk1"/>
              </a:solidFill>
              <a:latin typeface="Calibri"/>
              <a:ea typeface="Calibri"/>
              <a:cs typeface="Calibri"/>
              <a:sym typeface="Calibri"/>
            </a:endParaRPr>
          </a:p>
        </p:txBody>
      </p:sp>
      <p:sp>
        <p:nvSpPr>
          <p:cNvPr id="257" name="Google Shape;257;p11"/>
          <p:cNvSpPr txBox="1"/>
          <p:nvPr/>
        </p:nvSpPr>
        <p:spPr>
          <a:xfrm>
            <a:off x="1216152" y="2971800"/>
            <a:ext cx="244144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50"/>
              <a:buFont typeface="Calibri"/>
              <a:buNone/>
            </a:pPr>
            <a:r>
              <a:rPr lang="vi-VN" sz="1650" b="1" i="0" u="none" strike="noStrike" cap="none" noProof="0" dirty="0">
                <a:solidFill>
                  <a:srgbClr val="102A43"/>
                </a:solidFill>
                <a:latin typeface="Calibri"/>
                <a:ea typeface="Calibri"/>
                <a:cs typeface="Calibri"/>
                <a:sym typeface="Calibri"/>
              </a:rPr>
              <a:t>Hoạt động, phong trào</a:t>
            </a:r>
            <a:endParaRPr lang="vi-VN" sz="1650" b="0" i="0" u="none" strike="noStrike" cap="none" noProof="0" dirty="0">
              <a:solidFill>
                <a:schemeClr val="dk1"/>
              </a:solidFill>
              <a:latin typeface="Calibri"/>
              <a:ea typeface="Calibri"/>
              <a:cs typeface="Calibri"/>
              <a:sym typeface="Calibri"/>
            </a:endParaRPr>
          </a:p>
        </p:txBody>
      </p:sp>
      <p:sp>
        <p:nvSpPr>
          <p:cNvPr id="258" name="Google Shape;258;p11"/>
          <p:cNvSpPr txBox="1"/>
          <p:nvPr/>
        </p:nvSpPr>
        <p:spPr>
          <a:xfrm>
            <a:off x="731520" y="3429000"/>
            <a:ext cx="2926080"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0"/>
              <a:buFont typeface="Calibri"/>
              <a:buNone/>
            </a:pPr>
            <a:r>
              <a:rPr lang="vi-VN" sz="1450" b="0" i="0" u="none" strike="noStrike" cap="none" noProof="0" dirty="0">
                <a:solidFill>
                  <a:srgbClr val="333333"/>
                </a:solidFill>
                <a:latin typeface="Calibri"/>
                <a:ea typeface="Calibri"/>
                <a:cs typeface="Calibri"/>
                <a:sym typeface="Calibri"/>
              </a:rPr>
              <a:t>Tự lấy từ phân hệ Hoạt động: thời gian, địa điểm, điểm thi đua.</a:t>
            </a:r>
            <a:endParaRPr lang="vi-VN" sz="1450" b="0" i="0" u="none" strike="noStrike" cap="none" noProof="0" dirty="0">
              <a:solidFill>
                <a:schemeClr val="dk1"/>
              </a:solidFill>
              <a:latin typeface="Calibri"/>
              <a:ea typeface="Calibri"/>
              <a:cs typeface="Calibri"/>
              <a:sym typeface="Calibri"/>
            </a:endParaRPr>
          </a:p>
        </p:txBody>
      </p:sp>
      <p:sp>
        <p:nvSpPr>
          <p:cNvPr id="259" name="Google Shape;259;p11"/>
          <p:cNvSpPr/>
          <p:nvPr/>
        </p:nvSpPr>
        <p:spPr>
          <a:xfrm>
            <a:off x="4448556" y="2788920"/>
            <a:ext cx="3291840" cy="1280160"/>
          </a:xfrm>
          <a:prstGeom prst="roundRect">
            <a:avLst>
              <a:gd name="adj" fmla="val 5714"/>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60" name="Google Shape;260;p11"/>
          <p:cNvSpPr/>
          <p:nvPr/>
        </p:nvSpPr>
        <p:spPr>
          <a:xfrm>
            <a:off x="4631436" y="2971800"/>
            <a:ext cx="347472" cy="347472"/>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61" name="Google Shape;261;p11"/>
          <p:cNvSpPr txBox="1"/>
          <p:nvPr/>
        </p:nvSpPr>
        <p:spPr>
          <a:xfrm>
            <a:off x="4631436" y="297180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vi-VN" sz="1500" b="1" i="0" u="none" strike="noStrike" cap="none" noProof="0" dirty="0">
                <a:solidFill>
                  <a:srgbClr val="FFFFFF"/>
                </a:solidFill>
                <a:latin typeface="Calibri"/>
                <a:ea typeface="Calibri"/>
                <a:cs typeface="Calibri"/>
                <a:sym typeface="Calibri"/>
              </a:rPr>
              <a:t>2</a:t>
            </a:r>
            <a:endParaRPr lang="vi-VN" sz="1500" b="0" i="0" u="none" strike="noStrike" cap="none" noProof="0" dirty="0">
              <a:solidFill>
                <a:schemeClr val="dk1"/>
              </a:solidFill>
              <a:latin typeface="Calibri"/>
              <a:ea typeface="Calibri"/>
              <a:cs typeface="Calibri"/>
              <a:sym typeface="Calibri"/>
            </a:endParaRPr>
          </a:p>
        </p:txBody>
      </p:sp>
      <p:sp>
        <p:nvSpPr>
          <p:cNvPr id="262" name="Google Shape;262;p11"/>
          <p:cNvSpPr txBox="1"/>
          <p:nvPr/>
        </p:nvSpPr>
        <p:spPr>
          <a:xfrm>
            <a:off x="5116068" y="2971800"/>
            <a:ext cx="244144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50"/>
              <a:buFont typeface="Calibri"/>
              <a:buNone/>
            </a:pPr>
            <a:r>
              <a:rPr lang="vi-VN" sz="1650" b="1" i="0" u="none" strike="noStrike" cap="none" noProof="0" dirty="0">
                <a:solidFill>
                  <a:srgbClr val="102A43"/>
                </a:solidFill>
                <a:latin typeface="Calibri"/>
                <a:ea typeface="Calibri"/>
                <a:cs typeface="Calibri"/>
                <a:sym typeface="Calibri"/>
              </a:rPr>
              <a:t>Kiểm tra thường xuyên</a:t>
            </a:r>
            <a:endParaRPr lang="vi-VN" sz="1650" b="0" i="0" u="none" strike="noStrike" cap="none" noProof="0" dirty="0">
              <a:solidFill>
                <a:schemeClr val="dk1"/>
              </a:solidFill>
              <a:latin typeface="Calibri"/>
              <a:ea typeface="Calibri"/>
              <a:cs typeface="Calibri"/>
              <a:sym typeface="Calibri"/>
            </a:endParaRPr>
          </a:p>
        </p:txBody>
      </p:sp>
      <p:sp>
        <p:nvSpPr>
          <p:cNvPr id="263" name="Google Shape;263;p11"/>
          <p:cNvSpPr txBox="1"/>
          <p:nvPr/>
        </p:nvSpPr>
        <p:spPr>
          <a:xfrm>
            <a:off x="4631436" y="3429000"/>
            <a:ext cx="2926080"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0"/>
              <a:buFont typeface="Calibri"/>
              <a:buNone/>
            </a:pPr>
            <a:r>
              <a:rPr lang="vi-VN" sz="1450" b="0" i="0" u="none" strike="noStrike" cap="none" noProof="0" dirty="0">
                <a:solidFill>
                  <a:srgbClr val="333333"/>
                </a:solidFill>
                <a:latin typeface="Calibri"/>
                <a:ea typeface="Calibri"/>
                <a:cs typeface="Calibri"/>
                <a:sym typeface="Calibri"/>
              </a:rPr>
              <a:t>Môn, ngày, tiết, hình thức, phạm vi ôn tập, ghi chú của giáo viên.</a:t>
            </a:r>
            <a:endParaRPr lang="vi-VN" sz="1450" b="0" i="0" u="none" strike="noStrike" cap="none" noProof="0" dirty="0">
              <a:solidFill>
                <a:schemeClr val="dk1"/>
              </a:solidFill>
              <a:latin typeface="Calibri"/>
              <a:ea typeface="Calibri"/>
              <a:cs typeface="Calibri"/>
              <a:sym typeface="Calibri"/>
            </a:endParaRPr>
          </a:p>
        </p:txBody>
      </p:sp>
      <p:sp>
        <p:nvSpPr>
          <p:cNvPr id="264" name="Google Shape;264;p11"/>
          <p:cNvSpPr/>
          <p:nvPr/>
        </p:nvSpPr>
        <p:spPr>
          <a:xfrm>
            <a:off x="8348472" y="2788920"/>
            <a:ext cx="3291840" cy="1280160"/>
          </a:xfrm>
          <a:prstGeom prst="roundRect">
            <a:avLst>
              <a:gd name="adj" fmla="val 5714"/>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65" name="Google Shape;265;p11"/>
          <p:cNvSpPr/>
          <p:nvPr/>
        </p:nvSpPr>
        <p:spPr>
          <a:xfrm>
            <a:off x="8531352" y="2971800"/>
            <a:ext cx="347472" cy="347472"/>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66" name="Google Shape;266;p11"/>
          <p:cNvSpPr txBox="1"/>
          <p:nvPr/>
        </p:nvSpPr>
        <p:spPr>
          <a:xfrm>
            <a:off x="8531352" y="297180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vi-VN" sz="1500" b="1" i="0" u="none" strike="noStrike" cap="none" noProof="0" dirty="0">
                <a:solidFill>
                  <a:srgbClr val="FFFFFF"/>
                </a:solidFill>
                <a:latin typeface="Calibri"/>
                <a:ea typeface="Calibri"/>
                <a:cs typeface="Calibri"/>
                <a:sym typeface="Calibri"/>
              </a:rPr>
              <a:t>3</a:t>
            </a:r>
            <a:endParaRPr lang="vi-VN" sz="1500" b="0" i="0" u="none" strike="noStrike" cap="none" noProof="0" dirty="0">
              <a:solidFill>
                <a:schemeClr val="dk1"/>
              </a:solidFill>
              <a:latin typeface="Calibri"/>
              <a:ea typeface="Calibri"/>
              <a:cs typeface="Calibri"/>
              <a:sym typeface="Calibri"/>
            </a:endParaRPr>
          </a:p>
        </p:txBody>
      </p:sp>
      <p:sp>
        <p:nvSpPr>
          <p:cNvPr id="267" name="Google Shape;267;p11"/>
          <p:cNvSpPr txBox="1"/>
          <p:nvPr/>
        </p:nvSpPr>
        <p:spPr>
          <a:xfrm>
            <a:off x="9015984" y="2971800"/>
            <a:ext cx="244144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50"/>
              <a:buFont typeface="Calibri"/>
              <a:buNone/>
            </a:pPr>
            <a:r>
              <a:rPr lang="vi-VN" sz="1650" b="1" i="0" u="none" strike="noStrike" cap="none" noProof="0" dirty="0">
                <a:solidFill>
                  <a:srgbClr val="102A43"/>
                </a:solidFill>
                <a:latin typeface="Calibri"/>
                <a:ea typeface="Calibri"/>
                <a:cs typeface="Calibri"/>
                <a:sym typeface="Calibri"/>
              </a:rPr>
              <a:t>Nộp dự án, bài tập</a:t>
            </a:r>
            <a:endParaRPr lang="vi-VN" sz="1650" b="0" i="0" u="none" strike="noStrike" cap="none" noProof="0" dirty="0">
              <a:solidFill>
                <a:schemeClr val="dk1"/>
              </a:solidFill>
              <a:latin typeface="Calibri"/>
              <a:ea typeface="Calibri"/>
              <a:cs typeface="Calibri"/>
              <a:sym typeface="Calibri"/>
            </a:endParaRPr>
          </a:p>
        </p:txBody>
      </p:sp>
      <p:sp>
        <p:nvSpPr>
          <p:cNvPr id="268" name="Google Shape;268;p11"/>
          <p:cNvSpPr txBox="1"/>
          <p:nvPr/>
        </p:nvSpPr>
        <p:spPr>
          <a:xfrm>
            <a:off x="8531352" y="3429000"/>
            <a:ext cx="2926080"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0"/>
              <a:buFont typeface="Calibri"/>
              <a:buNone/>
            </a:pPr>
            <a:r>
              <a:rPr lang="vi-VN" sz="1450" b="0" i="0" u="none" strike="noStrike" cap="none" noProof="0" dirty="0">
                <a:solidFill>
                  <a:srgbClr val="333333"/>
                </a:solidFill>
                <a:latin typeface="Calibri"/>
                <a:ea typeface="Calibri"/>
                <a:cs typeface="Calibri"/>
                <a:sym typeface="Calibri"/>
              </a:rPr>
              <a:t>Hạn nộp, hình thức nộp, nhóm phụ trách, mức độ ưu tiên.</a:t>
            </a:r>
            <a:endParaRPr lang="vi-VN" sz="1450" b="0" i="0" u="none" strike="noStrike" cap="none" noProof="0" dirty="0">
              <a:solidFill>
                <a:schemeClr val="dk1"/>
              </a:solidFill>
              <a:latin typeface="Calibri"/>
              <a:ea typeface="Calibri"/>
              <a:cs typeface="Calibri"/>
              <a:sym typeface="Calibri"/>
            </a:endParaRPr>
          </a:p>
        </p:txBody>
      </p:sp>
      <p:sp>
        <p:nvSpPr>
          <p:cNvPr id="269" name="Google Shape;269;p11"/>
          <p:cNvSpPr/>
          <p:nvPr/>
        </p:nvSpPr>
        <p:spPr>
          <a:xfrm>
            <a:off x="548640" y="4206240"/>
            <a:ext cx="3291840" cy="1280160"/>
          </a:xfrm>
          <a:prstGeom prst="roundRect">
            <a:avLst>
              <a:gd name="adj" fmla="val 5714"/>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70" name="Google Shape;270;p11"/>
          <p:cNvSpPr/>
          <p:nvPr/>
        </p:nvSpPr>
        <p:spPr>
          <a:xfrm>
            <a:off x="731520" y="4389120"/>
            <a:ext cx="347472" cy="347472"/>
          </a:xfrm>
          <a:prstGeom prst="ellipse">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71" name="Google Shape;271;p11"/>
          <p:cNvSpPr txBox="1"/>
          <p:nvPr/>
        </p:nvSpPr>
        <p:spPr>
          <a:xfrm>
            <a:off x="731520" y="438912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vi-VN" sz="1500" b="1" i="0" u="none" strike="noStrike" cap="none" noProof="0" dirty="0">
                <a:solidFill>
                  <a:srgbClr val="FFFFFF"/>
                </a:solidFill>
                <a:latin typeface="Calibri"/>
                <a:ea typeface="Calibri"/>
                <a:cs typeface="Calibri"/>
                <a:sym typeface="Calibri"/>
              </a:rPr>
              <a:t>4</a:t>
            </a:r>
            <a:endParaRPr lang="vi-VN" sz="1500" b="0" i="0" u="none" strike="noStrike" cap="none" noProof="0" dirty="0">
              <a:solidFill>
                <a:schemeClr val="dk1"/>
              </a:solidFill>
              <a:latin typeface="Calibri"/>
              <a:ea typeface="Calibri"/>
              <a:cs typeface="Calibri"/>
              <a:sym typeface="Calibri"/>
            </a:endParaRPr>
          </a:p>
        </p:txBody>
      </p:sp>
      <p:sp>
        <p:nvSpPr>
          <p:cNvPr id="272" name="Google Shape;272;p11"/>
          <p:cNvSpPr txBox="1"/>
          <p:nvPr/>
        </p:nvSpPr>
        <p:spPr>
          <a:xfrm>
            <a:off x="1216152" y="4389120"/>
            <a:ext cx="244144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50"/>
              <a:buFont typeface="Calibri"/>
              <a:buNone/>
            </a:pPr>
            <a:r>
              <a:rPr lang="vi-VN" sz="1650" b="1" i="0" u="none" strike="noStrike" cap="none" noProof="0" dirty="0">
                <a:solidFill>
                  <a:srgbClr val="102A43"/>
                </a:solidFill>
                <a:latin typeface="Calibri"/>
                <a:ea typeface="Calibri"/>
                <a:cs typeface="Calibri"/>
                <a:sym typeface="Calibri"/>
              </a:rPr>
              <a:t>Lịch trực nhật tuần</a:t>
            </a:r>
            <a:endParaRPr lang="vi-VN" sz="1650" b="0" i="0" u="none" strike="noStrike" cap="none" noProof="0" dirty="0">
              <a:solidFill>
                <a:schemeClr val="dk1"/>
              </a:solidFill>
              <a:latin typeface="Calibri"/>
              <a:ea typeface="Calibri"/>
              <a:cs typeface="Calibri"/>
              <a:sym typeface="Calibri"/>
            </a:endParaRPr>
          </a:p>
        </p:txBody>
      </p:sp>
      <p:sp>
        <p:nvSpPr>
          <p:cNvPr id="273" name="Google Shape;273;p11"/>
          <p:cNvSpPr txBox="1"/>
          <p:nvPr/>
        </p:nvSpPr>
        <p:spPr>
          <a:xfrm>
            <a:off x="731520" y="4846320"/>
            <a:ext cx="2926080"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0"/>
              <a:buFont typeface="Calibri"/>
              <a:buNone/>
            </a:pPr>
            <a:r>
              <a:rPr lang="vi-VN" sz="1450" b="0" i="0" u="none" strike="noStrike" cap="none" noProof="0" dirty="0">
                <a:solidFill>
                  <a:srgbClr val="333333"/>
                </a:solidFill>
                <a:latin typeface="Calibri"/>
                <a:ea typeface="Calibri"/>
                <a:cs typeface="Calibri"/>
                <a:sym typeface="Calibri"/>
              </a:rPr>
              <a:t>Tự động lấy từ phân hệ Lịch trực nhật: ai, ngày nào, khu vực nào.</a:t>
            </a:r>
            <a:endParaRPr lang="vi-VN" sz="1450" b="0" i="0" u="none" strike="noStrike" cap="none" noProof="0" dirty="0">
              <a:solidFill>
                <a:schemeClr val="dk1"/>
              </a:solidFill>
              <a:latin typeface="Calibri"/>
              <a:ea typeface="Calibri"/>
              <a:cs typeface="Calibri"/>
              <a:sym typeface="Calibri"/>
            </a:endParaRPr>
          </a:p>
        </p:txBody>
      </p:sp>
      <p:sp>
        <p:nvSpPr>
          <p:cNvPr id="274" name="Google Shape;274;p11"/>
          <p:cNvSpPr/>
          <p:nvPr/>
        </p:nvSpPr>
        <p:spPr>
          <a:xfrm>
            <a:off x="4448556" y="4206240"/>
            <a:ext cx="3291840" cy="1280160"/>
          </a:xfrm>
          <a:prstGeom prst="roundRect">
            <a:avLst>
              <a:gd name="adj" fmla="val 5714"/>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75" name="Google Shape;275;p11"/>
          <p:cNvSpPr/>
          <p:nvPr/>
        </p:nvSpPr>
        <p:spPr>
          <a:xfrm>
            <a:off x="4631436" y="4389120"/>
            <a:ext cx="347472" cy="347472"/>
          </a:xfrm>
          <a:prstGeom prst="ellipse">
            <a:avLst/>
          </a:prstGeom>
          <a:solidFill>
            <a:srgbClr val="718096"/>
          </a:solidFill>
          <a:ln w="12700" cap="flat" cmpd="sng">
            <a:solidFill>
              <a:srgbClr val="7180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76" name="Google Shape;276;p11"/>
          <p:cNvSpPr txBox="1"/>
          <p:nvPr/>
        </p:nvSpPr>
        <p:spPr>
          <a:xfrm>
            <a:off x="4631436" y="438912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vi-VN" sz="1500" b="1" i="0" u="none" strike="noStrike" cap="none" noProof="0" dirty="0">
                <a:solidFill>
                  <a:srgbClr val="FFFFFF"/>
                </a:solidFill>
                <a:latin typeface="Calibri"/>
                <a:ea typeface="Calibri"/>
                <a:cs typeface="Calibri"/>
                <a:sym typeface="Calibri"/>
              </a:rPr>
              <a:t>5</a:t>
            </a:r>
            <a:endParaRPr lang="vi-VN" sz="1500" b="0" i="0" u="none" strike="noStrike" cap="none" noProof="0" dirty="0">
              <a:solidFill>
                <a:schemeClr val="dk1"/>
              </a:solidFill>
              <a:latin typeface="Calibri"/>
              <a:ea typeface="Calibri"/>
              <a:cs typeface="Calibri"/>
              <a:sym typeface="Calibri"/>
            </a:endParaRPr>
          </a:p>
        </p:txBody>
      </p:sp>
      <p:sp>
        <p:nvSpPr>
          <p:cNvPr id="277" name="Google Shape;277;p11"/>
          <p:cNvSpPr txBox="1"/>
          <p:nvPr/>
        </p:nvSpPr>
        <p:spPr>
          <a:xfrm>
            <a:off x="5116068" y="4389120"/>
            <a:ext cx="244144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50"/>
              <a:buFont typeface="Calibri"/>
              <a:buNone/>
            </a:pPr>
            <a:r>
              <a:rPr lang="vi-VN" sz="1650" b="1" i="0" u="none" strike="noStrike" cap="none" noProof="0" dirty="0">
                <a:solidFill>
                  <a:srgbClr val="102A43"/>
                </a:solidFill>
                <a:latin typeface="Calibri"/>
                <a:ea typeface="Calibri"/>
                <a:cs typeface="Calibri"/>
                <a:sym typeface="Calibri"/>
              </a:rPr>
              <a:t>Thông báo khác</a:t>
            </a:r>
            <a:endParaRPr lang="vi-VN" sz="1650" b="0" i="0" u="none" strike="noStrike" cap="none" noProof="0" dirty="0">
              <a:solidFill>
                <a:schemeClr val="dk1"/>
              </a:solidFill>
              <a:latin typeface="Calibri"/>
              <a:ea typeface="Calibri"/>
              <a:cs typeface="Calibri"/>
              <a:sym typeface="Calibri"/>
            </a:endParaRPr>
          </a:p>
        </p:txBody>
      </p:sp>
      <p:sp>
        <p:nvSpPr>
          <p:cNvPr id="278" name="Google Shape;278;p11"/>
          <p:cNvSpPr txBox="1"/>
          <p:nvPr/>
        </p:nvSpPr>
        <p:spPr>
          <a:xfrm>
            <a:off x="4631436" y="4846320"/>
            <a:ext cx="2926080"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0"/>
              <a:buFont typeface="Calibri"/>
              <a:buNone/>
            </a:pPr>
            <a:r>
              <a:rPr lang="vi-VN" sz="1450" b="0" i="0" u="none" strike="noStrike" cap="none" noProof="0" dirty="0">
                <a:solidFill>
                  <a:srgbClr val="333333"/>
                </a:solidFill>
                <a:latin typeface="Calibri"/>
                <a:ea typeface="Calibri"/>
                <a:cs typeface="Calibri"/>
                <a:sym typeface="Calibri"/>
              </a:rPr>
              <a:t>Họp phụ huynh, đóng quỹ, đổi thời khóa biểu, nhắc nhở của GVCN.</a:t>
            </a:r>
            <a:endParaRPr lang="vi-VN" sz="1450" b="0" i="0" u="none" strike="noStrike" cap="none" noProof="0" dirty="0">
              <a:solidFill>
                <a:schemeClr val="dk1"/>
              </a:solidFill>
              <a:latin typeface="Calibri"/>
              <a:ea typeface="Calibri"/>
              <a:cs typeface="Calibri"/>
              <a:sym typeface="Calibri"/>
            </a:endParaRPr>
          </a:p>
        </p:txBody>
      </p:sp>
      <p:sp>
        <p:nvSpPr>
          <p:cNvPr id="279" name="Google Shape;279;p11"/>
          <p:cNvSpPr/>
          <p:nvPr/>
        </p:nvSpPr>
        <p:spPr>
          <a:xfrm>
            <a:off x="8348472" y="4206240"/>
            <a:ext cx="3291840" cy="1280160"/>
          </a:xfrm>
          <a:prstGeom prst="roundRect">
            <a:avLst>
              <a:gd name="adj" fmla="val 5714"/>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80" name="Google Shape;280;p11"/>
          <p:cNvSpPr/>
          <p:nvPr/>
        </p:nvSpPr>
        <p:spPr>
          <a:xfrm>
            <a:off x="8531352" y="4389120"/>
            <a:ext cx="347472" cy="347472"/>
          </a:xfrm>
          <a:prstGeom prst="ellipse">
            <a:avLst/>
          </a:prstGeom>
          <a:solidFill>
            <a:srgbClr val="3ECF8E"/>
          </a:solidFill>
          <a:ln w="12700" cap="flat" cmpd="sng">
            <a:solidFill>
              <a:srgbClr val="3ECF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81" name="Google Shape;281;p11"/>
          <p:cNvSpPr txBox="1"/>
          <p:nvPr/>
        </p:nvSpPr>
        <p:spPr>
          <a:xfrm>
            <a:off x="8531352" y="438912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vi-VN" sz="1500" b="1" i="0" u="none" strike="noStrike" cap="none" noProof="0" dirty="0">
                <a:solidFill>
                  <a:srgbClr val="FFFFFF"/>
                </a:solidFill>
                <a:latin typeface="Calibri"/>
                <a:ea typeface="Calibri"/>
                <a:cs typeface="Calibri"/>
                <a:sym typeface="Calibri"/>
              </a:rPr>
              <a:t>6</a:t>
            </a:r>
            <a:endParaRPr lang="vi-VN" sz="1500" b="0" i="0" u="none" strike="noStrike" cap="none" noProof="0" dirty="0">
              <a:solidFill>
                <a:schemeClr val="dk1"/>
              </a:solidFill>
              <a:latin typeface="Calibri"/>
              <a:ea typeface="Calibri"/>
              <a:cs typeface="Calibri"/>
              <a:sym typeface="Calibri"/>
            </a:endParaRPr>
          </a:p>
        </p:txBody>
      </p:sp>
      <p:sp>
        <p:nvSpPr>
          <p:cNvPr id="282" name="Google Shape;282;p11"/>
          <p:cNvSpPr txBox="1"/>
          <p:nvPr/>
        </p:nvSpPr>
        <p:spPr>
          <a:xfrm>
            <a:off x="9015984" y="4389120"/>
            <a:ext cx="244144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350"/>
              <a:buFont typeface="Calibri"/>
              <a:buNone/>
            </a:pPr>
            <a:r>
              <a:rPr lang="vi-VN" sz="1650" b="1" i="0" u="none" strike="noStrike" cap="none" noProof="0" dirty="0">
                <a:solidFill>
                  <a:srgbClr val="102A43"/>
                </a:solidFill>
                <a:latin typeface="Calibri"/>
                <a:ea typeface="Calibri"/>
                <a:cs typeface="Calibri"/>
                <a:sym typeface="Calibri"/>
              </a:rPr>
              <a:t>Lời nhắn và khen ngợi</a:t>
            </a:r>
            <a:endParaRPr lang="vi-VN" sz="1650" b="0" i="0" u="none" strike="noStrike" cap="none" noProof="0" dirty="0">
              <a:solidFill>
                <a:schemeClr val="dk1"/>
              </a:solidFill>
              <a:latin typeface="Calibri"/>
              <a:ea typeface="Calibri"/>
              <a:cs typeface="Calibri"/>
              <a:sym typeface="Calibri"/>
            </a:endParaRPr>
          </a:p>
        </p:txBody>
      </p:sp>
      <p:sp>
        <p:nvSpPr>
          <p:cNvPr id="283" name="Google Shape;283;p11"/>
          <p:cNvSpPr txBox="1"/>
          <p:nvPr/>
        </p:nvSpPr>
        <p:spPr>
          <a:xfrm>
            <a:off x="8531352" y="4846320"/>
            <a:ext cx="2926080"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0"/>
              <a:buFont typeface="Calibri"/>
              <a:buNone/>
            </a:pPr>
            <a:r>
              <a:rPr lang="vi-VN" sz="1450" b="0" i="0" u="none" strike="noStrike" cap="none" noProof="0" dirty="0">
                <a:solidFill>
                  <a:srgbClr val="333333"/>
                </a:solidFill>
                <a:latin typeface="Calibri"/>
                <a:ea typeface="Calibri"/>
                <a:cs typeface="Calibri"/>
                <a:sym typeface="Calibri"/>
              </a:rPr>
              <a:t>Ghi nhận cá nhân, tập thể có thành tích trong tuần.</a:t>
            </a:r>
            <a:endParaRPr lang="vi-VN" sz="1450" b="0" i="0" u="none" strike="noStrike" cap="none" noProof="0" dirty="0">
              <a:solidFill>
                <a:schemeClr val="dk1"/>
              </a:solidFill>
              <a:latin typeface="Calibri"/>
              <a:ea typeface="Calibri"/>
              <a:cs typeface="Calibri"/>
              <a:sym typeface="Calibri"/>
            </a:endParaRPr>
          </a:p>
        </p:txBody>
      </p:sp>
      <p:sp>
        <p:nvSpPr>
          <p:cNvPr id="284" name="Google Shape;284;p11"/>
          <p:cNvSpPr/>
          <p:nvPr/>
        </p:nvSpPr>
        <p:spPr>
          <a:xfrm>
            <a:off x="548640" y="5669280"/>
            <a:ext cx="11091672" cy="548640"/>
          </a:xfrm>
          <a:prstGeom prst="roundRect">
            <a:avLst>
              <a:gd name="adj" fmla="val 16667"/>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85" name="Google Shape;285;p11"/>
          <p:cNvSpPr txBox="1"/>
          <p:nvPr/>
        </p:nvSpPr>
        <p:spPr>
          <a:xfrm>
            <a:off x="731520" y="5669280"/>
            <a:ext cx="1072591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Nháp → Chờ duyệt → Đã đăng  •  “Việc cần làm sớm”: đếm ngược 3–5 mục gần hạn  •  Xuất ảnh/PDF</a:t>
            </a:r>
            <a:endParaRPr lang="vi-VN" sz="17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290"/>
        <p:cNvGrpSpPr/>
        <p:nvPr/>
      </p:nvGrpSpPr>
      <p:grpSpPr>
        <a:xfrm>
          <a:off x="0" y="0"/>
          <a:ext cx="0" cy="0"/>
          <a:chOff x="0" y="0"/>
          <a:chExt cx="0" cy="0"/>
        </a:xfrm>
      </p:grpSpPr>
      <p:sp>
        <p:nvSpPr>
          <p:cNvPr id="291" name="Google Shape;291;p12"/>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3000" b="1" i="0" u="none" strike="noStrike" cap="none" noProof="0" dirty="0">
                <a:solidFill>
                  <a:srgbClr val="102A43"/>
                </a:solidFill>
                <a:latin typeface="Calibri"/>
                <a:ea typeface="Calibri"/>
                <a:cs typeface="Calibri"/>
                <a:sym typeface="Calibri"/>
              </a:rPr>
              <a:t>7. Lịch trực nhật và phân nhóm học tập</a:t>
            </a:r>
            <a:endParaRPr lang="vi-VN" sz="3000" b="0" i="0" u="none" strike="noStrike" cap="none" noProof="0" dirty="0">
              <a:solidFill>
                <a:schemeClr val="dk1"/>
              </a:solidFill>
              <a:latin typeface="Calibri"/>
              <a:ea typeface="Calibri"/>
              <a:cs typeface="Calibri"/>
              <a:sym typeface="Calibri"/>
            </a:endParaRPr>
          </a:p>
        </p:txBody>
      </p:sp>
      <p:sp>
        <p:nvSpPr>
          <p:cNvPr id="292" name="Google Shape;292;p12"/>
          <p:cNvSpPr txBox="1"/>
          <p:nvPr/>
        </p:nvSpPr>
        <p:spPr>
          <a:xfrm>
            <a:off x="550165" y="896088"/>
            <a:ext cx="110643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i="0" u="none" strike="noStrike" cap="none" noProof="0" dirty="0">
                <a:solidFill>
                  <a:srgbClr val="1E72B8"/>
                </a:solidFill>
                <a:latin typeface="Calibri"/>
                <a:ea typeface="Calibri"/>
                <a:cs typeface="Calibri"/>
                <a:sym typeface="Calibri"/>
              </a:rPr>
              <a:t>Chia việc, chia nhóm nhanh – công bằng – lưu lại để tra cứu.</a:t>
            </a:r>
            <a:endParaRPr lang="vi-VN" sz="1600" b="0" i="0" u="none" strike="noStrike" cap="none" noProof="0" dirty="0">
              <a:solidFill>
                <a:schemeClr val="dk1"/>
              </a:solidFill>
              <a:latin typeface="Calibri"/>
              <a:ea typeface="Calibri"/>
              <a:cs typeface="Calibri"/>
              <a:sym typeface="Calibri"/>
            </a:endParaRPr>
          </a:p>
        </p:txBody>
      </p:sp>
      <p:sp>
        <p:nvSpPr>
          <p:cNvPr id="293" name="Google Shape;293;p12"/>
          <p:cNvSpPr txBox="1"/>
          <p:nvPr/>
        </p:nvSpPr>
        <p:spPr>
          <a:xfrm>
            <a:off x="444340" y="6108125"/>
            <a:ext cx="91440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294" name="Google Shape;294;p12"/>
          <p:cNvSpPr txBox="1"/>
          <p:nvPr/>
        </p:nvSpPr>
        <p:spPr>
          <a:xfrm>
            <a:off x="11051380" y="6108125"/>
            <a:ext cx="484500" cy="2742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8</a:t>
            </a:r>
            <a:endParaRPr lang="vi-VN" sz="1000" b="0" i="0" u="none" strike="noStrike" cap="none" noProof="0" dirty="0">
              <a:solidFill>
                <a:schemeClr val="dk1"/>
              </a:solidFill>
              <a:latin typeface="Calibri"/>
              <a:ea typeface="Calibri"/>
              <a:cs typeface="Calibri"/>
              <a:sym typeface="Calibri"/>
            </a:endParaRPr>
          </a:p>
        </p:txBody>
      </p:sp>
      <p:sp>
        <p:nvSpPr>
          <p:cNvPr id="295" name="Google Shape;295;p12"/>
          <p:cNvSpPr/>
          <p:nvPr/>
        </p:nvSpPr>
        <p:spPr>
          <a:xfrm>
            <a:off x="444340" y="1261805"/>
            <a:ext cx="5440800" cy="3931800"/>
          </a:xfrm>
          <a:prstGeom prst="roundRect">
            <a:avLst>
              <a:gd name="adj" fmla="val 186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96" name="Google Shape;296;p12"/>
          <p:cNvSpPr/>
          <p:nvPr/>
        </p:nvSpPr>
        <p:spPr>
          <a:xfrm>
            <a:off x="672940" y="1426397"/>
            <a:ext cx="457200" cy="457200"/>
          </a:xfrm>
          <a:prstGeom prst="ellipse">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297" name="Google Shape;297;p12"/>
          <p:cNvSpPr txBox="1"/>
          <p:nvPr/>
        </p:nvSpPr>
        <p:spPr>
          <a:xfrm>
            <a:off x="672940" y="1426397"/>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i="0" u="none" strike="noStrike" cap="none" noProof="0" dirty="0">
                <a:solidFill>
                  <a:srgbClr val="FFFFFF"/>
                </a:solidFill>
                <a:latin typeface="Calibri"/>
                <a:ea typeface="Calibri"/>
                <a:cs typeface="Calibri"/>
                <a:sym typeface="Calibri"/>
              </a:rPr>
              <a:t>5</a:t>
            </a:r>
            <a:endParaRPr lang="vi-VN" sz="1800" b="0" i="0" u="none" strike="noStrike" cap="none" noProof="0" dirty="0">
              <a:solidFill>
                <a:schemeClr val="dk1"/>
              </a:solidFill>
              <a:latin typeface="Calibri"/>
              <a:ea typeface="Calibri"/>
              <a:cs typeface="Calibri"/>
              <a:sym typeface="Calibri"/>
            </a:endParaRPr>
          </a:p>
        </p:txBody>
      </p:sp>
      <p:sp>
        <p:nvSpPr>
          <p:cNvPr id="298" name="Google Shape;298;p12"/>
          <p:cNvSpPr txBox="1"/>
          <p:nvPr/>
        </p:nvSpPr>
        <p:spPr>
          <a:xfrm>
            <a:off x="1267300" y="1426397"/>
            <a:ext cx="438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700"/>
              <a:buFont typeface="Calibri"/>
              <a:buNone/>
            </a:pPr>
            <a:r>
              <a:rPr lang="vi-VN" sz="2000" b="1" i="0" u="none" strike="noStrike" cap="none" noProof="0" dirty="0">
                <a:solidFill>
                  <a:srgbClr val="102A43"/>
                </a:solidFill>
                <a:latin typeface="Calibri"/>
                <a:ea typeface="Calibri"/>
                <a:cs typeface="Calibri"/>
                <a:sym typeface="Calibri"/>
              </a:rPr>
              <a:t>Lịch trực nhật</a:t>
            </a:r>
            <a:endParaRPr lang="vi-VN" sz="2000" b="0" i="0" u="none" strike="noStrike" cap="none" noProof="0" dirty="0">
              <a:solidFill>
                <a:schemeClr val="dk1"/>
              </a:solidFill>
              <a:latin typeface="Calibri"/>
              <a:ea typeface="Calibri"/>
              <a:cs typeface="Calibri"/>
              <a:sym typeface="Calibri"/>
            </a:endParaRPr>
          </a:p>
        </p:txBody>
      </p:sp>
      <p:sp>
        <p:nvSpPr>
          <p:cNvPr id="299" name="Google Shape;299;p12"/>
          <p:cNvSpPr txBox="1"/>
          <p:nvPr/>
        </p:nvSpPr>
        <p:spPr>
          <a:xfrm>
            <a:off x="672940" y="2084765"/>
            <a:ext cx="4983600" cy="1828800"/>
          </a:xfrm>
          <a:prstGeom prst="rect">
            <a:avLst/>
          </a:prstGeom>
          <a:noFill/>
          <a:ln>
            <a:noFill/>
          </a:ln>
        </p:spPr>
        <p:txBody>
          <a:bodyPr spcFirstLastPara="1" wrap="square" lIns="0" tIns="0" rIns="0" bIns="0" anchor="t" anchorCtr="0">
            <a:noAutofit/>
          </a:bodyPr>
          <a:lstStyle/>
          <a:p>
            <a:pPr marL="342900" marR="0" lvl="0" indent="-361950" algn="just" rtl="0">
              <a:spcBef>
                <a:spcPts val="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Khai báo nhiệm vụ, số người, ngày trực và ngoại lệ (miễn, học thêm)</a:t>
            </a:r>
            <a:endParaRPr lang="vi-VN" sz="1550" b="0" i="0" u="none" strike="noStrike" cap="none" noProof="0" dirty="0">
              <a:solidFill>
                <a:schemeClr val="dk1"/>
              </a:solidFill>
              <a:latin typeface="Calibri"/>
              <a:ea typeface="Calibri"/>
              <a:cs typeface="Calibri"/>
              <a:sym typeface="Calibri"/>
            </a:endParaRPr>
          </a:p>
          <a:p>
            <a:pPr marL="342900" marR="0" lvl="0" indent="-361950" algn="just"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Xoay vòng công bằng: số lần trực chênh lệch không quá 1; không lặp nhiệm vụ; cân bằng nam–nữ</a:t>
            </a:r>
            <a:endParaRPr lang="vi-VN" sz="1550" b="0" i="0" u="none" strike="noStrike" cap="none" noProof="0" dirty="0">
              <a:solidFill>
                <a:schemeClr val="dk1"/>
              </a:solidFill>
              <a:latin typeface="Calibri"/>
              <a:ea typeface="Calibri"/>
              <a:cs typeface="Calibri"/>
              <a:sym typeface="Calibri"/>
            </a:endParaRPr>
          </a:p>
          <a:p>
            <a:pPr marL="342900" marR="0" lvl="0" indent="-361950" algn="just"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Đổi lịch có xác nhận; đánh dấu đã trực/vắng/trực bù; thống kê; xuất Excel/PDF</a:t>
            </a:r>
            <a:endParaRPr lang="vi-VN" sz="1550" b="0" i="0" u="none" strike="noStrike" cap="none" noProof="0" dirty="0">
              <a:solidFill>
                <a:schemeClr val="dk1"/>
              </a:solidFill>
              <a:latin typeface="Calibri"/>
              <a:ea typeface="Calibri"/>
              <a:cs typeface="Calibri"/>
              <a:sym typeface="Calibri"/>
            </a:endParaRPr>
          </a:p>
        </p:txBody>
      </p:sp>
      <p:sp>
        <p:nvSpPr>
          <p:cNvPr id="300" name="Google Shape;300;p12"/>
          <p:cNvSpPr/>
          <p:nvPr/>
        </p:nvSpPr>
        <p:spPr>
          <a:xfrm>
            <a:off x="6095332" y="1261805"/>
            <a:ext cx="5440800" cy="3931800"/>
          </a:xfrm>
          <a:prstGeom prst="roundRect">
            <a:avLst>
              <a:gd name="adj" fmla="val 1860"/>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01" name="Google Shape;301;p12"/>
          <p:cNvSpPr/>
          <p:nvPr/>
        </p:nvSpPr>
        <p:spPr>
          <a:xfrm>
            <a:off x="6323932" y="1426397"/>
            <a:ext cx="457200" cy="457200"/>
          </a:xfrm>
          <a:prstGeom prst="ellipse">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02" name="Google Shape;302;p12"/>
          <p:cNvSpPr txBox="1"/>
          <p:nvPr/>
        </p:nvSpPr>
        <p:spPr>
          <a:xfrm>
            <a:off x="6323932" y="1426397"/>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vi-VN" sz="1800" b="1" i="0" u="none" strike="noStrike" cap="none" noProof="0" dirty="0">
                <a:solidFill>
                  <a:srgbClr val="FFFFFF"/>
                </a:solidFill>
                <a:latin typeface="Calibri"/>
                <a:ea typeface="Calibri"/>
                <a:cs typeface="Calibri"/>
                <a:sym typeface="Calibri"/>
              </a:rPr>
              <a:t>6</a:t>
            </a:r>
            <a:endParaRPr lang="vi-VN" sz="1800" b="0" i="0" u="none" strike="noStrike" cap="none" noProof="0" dirty="0">
              <a:solidFill>
                <a:schemeClr val="dk1"/>
              </a:solidFill>
              <a:latin typeface="Calibri"/>
              <a:ea typeface="Calibri"/>
              <a:cs typeface="Calibri"/>
              <a:sym typeface="Calibri"/>
            </a:endParaRPr>
          </a:p>
        </p:txBody>
      </p:sp>
      <p:sp>
        <p:nvSpPr>
          <p:cNvPr id="303" name="Google Shape;303;p12"/>
          <p:cNvSpPr txBox="1"/>
          <p:nvPr/>
        </p:nvSpPr>
        <p:spPr>
          <a:xfrm>
            <a:off x="6918292" y="1426397"/>
            <a:ext cx="438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2A43"/>
              </a:buClr>
              <a:buSzPts val="1700"/>
              <a:buFont typeface="Calibri"/>
              <a:buNone/>
            </a:pPr>
            <a:r>
              <a:rPr lang="vi-VN" sz="2000" b="1" i="0" u="none" strike="noStrike" cap="none" noProof="0" dirty="0">
                <a:solidFill>
                  <a:srgbClr val="102A43"/>
                </a:solidFill>
                <a:latin typeface="Calibri"/>
                <a:ea typeface="Calibri"/>
                <a:cs typeface="Calibri"/>
                <a:sym typeface="Calibri"/>
              </a:rPr>
              <a:t>Phân nhóm học tập</a:t>
            </a:r>
            <a:endParaRPr lang="vi-VN" sz="2000" b="0" i="0" u="none" strike="noStrike" cap="none" noProof="0" dirty="0">
              <a:solidFill>
                <a:schemeClr val="dk1"/>
              </a:solidFill>
              <a:latin typeface="Calibri"/>
              <a:ea typeface="Calibri"/>
              <a:cs typeface="Calibri"/>
              <a:sym typeface="Calibri"/>
            </a:endParaRPr>
          </a:p>
        </p:txBody>
      </p:sp>
      <p:sp>
        <p:nvSpPr>
          <p:cNvPr id="304" name="Google Shape;304;p12"/>
          <p:cNvSpPr txBox="1"/>
          <p:nvPr/>
        </p:nvSpPr>
        <p:spPr>
          <a:xfrm>
            <a:off x="6323932" y="2084765"/>
            <a:ext cx="4983600" cy="1828800"/>
          </a:xfrm>
          <a:prstGeom prst="rect">
            <a:avLst/>
          </a:prstGeom>
          <a:noFill/>
          <a:ln>
            <a:noFill/>
          </a:ln>
        </p:spPr>
        <p:txBody>
          <a:bodyPr spcFirstLastPara="1" wrap="square" lIns="0" tIns="0" rIns="0" bIns="0" anchor="t" anchorCtr="0">
            <a:noAutofit/>
          </a:bodyPr>
          <a:lstStyle/>
          <a:p>
            <a:pPr marL="342900" marR="0" lvl="0" indent="-361950" algn="just" rtl="0">
              <a:spcBef>
                <a:spcPts val="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Chia theo số nhóm hoặc số người mỗi nhóm; chọn danh sách tham gia</a:t>
            </a:r>
            <a:endParaRPr lang="vi-VN" sz="1550" b="0" i="0" u="none" strike="noStrike" cap="none" noProof="0" dirty="0">
              <a:solidFill>
                <a:schemeClr val="dk1"/>
              </a:solidFill>
              <a:latin typeface="Calibri"/>
              <a:ea typeface="Calibri"/>
              <a:cs typeface="Calibri"/>
              <a:sym typeface="Calibri"/>
            </a:endParaRPr>
          </a:p>
          <a:p>
            <a:pPr marL="342900" marR="0" lvl="0" indent="-361950" algn="just"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Ràng buộc: cân bằng nam–nữ, tách hoặc cố định bạn, không trùng nhóm lần trước</a:t>
            </a:r>
            <a:endParaRPr lang="vi-VN" sz="1550" b="0" i="0" u="none" strike="noStrike" cap="none" noProof="0" dirty="0">
              <a:solidFill>
                <a:schemeClr val="dk1"/>
              </a:solidFill>
              <a:latin typeface="Calibri"/>
              <a:ea typeface="Calibri"/>
              <a:cs typeface="Calibri"/>
              <a:sym typeface="Calibri"/>
            </a:endParaRPr>
          </a:p>
          <a:p>
            <a:pPr marL="342900" marR="0" lvl="0" indent="-361950" algn="just" rtl="0">
              <a:spcBef>
                <a:spcPts val="700"/>
              </a:spcBef>
              <a:spcAft>
                <a:spcPts val="0"/>
              </a:spcAft>
              <a:buClr>
                <a:srgbClr val="333333"/>
              </a:buClr>
              <a:buSzPts val="1550"/>
              <a:buFont typeface="Calibri"/>
              <a:buChar char="•"/>
            </a:pPr>
            <a:r>
              <a:rPr lang="vi-VN" sz="1550" b="0" i="0" u="none" strike="noStrike" cap="none" noProof="0" dirty="0">
                <a:solidFill>
                  <a:srgbClr val="333333"/>
                </a:solidFill>
                <a:latin typeface="Calibri"/>
                <a:ea typeface="Calibri"/>
                <a:cs typeface="Calibri"/>
                <a:sym typeface="Calibri"/>
              </a:rPr>
              <a:t>Xáo trộn </a:t>
            </a:r>
            <a:r>
              <a:rPr lang="vi-VN" sz="1550" b="0" i="0" u="none" strike="noStrike" cap="none" noProof="0" dirty="0" err="1">
                <a:solidFill>
                  <a:srgbClr val="333333"/>
                </a:solidFill>
                <a:latin typeface="Calibri"/>
                <a:ea typeface="Calibri"/>
                <a:cs typeface="Calibri"/>
                <a:sym typeface="Calibri"/>
              </a:rPr>
              <a:t>Fisher</a:t>
            </a:r>
            <a:r>
              <a:rPr lang="vi-VN" sz="1550" b="0" i="0" u="none" strike="noStrike" cap="none" noProof="0" dirty="0">
                <a:solidFill>
                  <a:srgbClr val="333333"/>
                </a:solidFill>
                <a:latin typeface="Calibri"/>
                <a:ea typeface="Calibri"/>
                <a:cs typeface="Calibri"/>
                <a:sym typeface="Calibri"/>
              </a:rPr>
              <a:t>–</a:t>
            </a:r>
            <a:r>
              <a:rPr lang="vi-VN" sz="1550" b="0" i="0" u="none" strike="noStrike" cap="none" noProof="0" dirty="0" err="1">
                <a:solidFill>
                  <a:srgbClr val="333333"/>
                </a:solidFill>
                <a:latin typeface="Calibri"/>
                <a:ea typeface="Calibri"/>
                <a:cs typeface="Calibri"/>
                <a:sym typeface="Calibri"/>
              </a:rPr>
              <a:t>Yates</a:t>
            </a:r>
            <a:r>
              <a:rPr lang="vi-VN" sz="1550" b="0" i="0" u="none" strike="noStrike" cap="none" noProof="0" dirty="0">
                <a:solidFill>
                  <a:srgbClr val="333333"/>
                </a:solidFill>
                <a:latin typeface="Calibri"/>
                <a:ea typeface="Calibri"/>
                <a:cs typeface="Calibri"/>
                <a:sym typeface="Calibri"/>
              </a:rPr>
              <a:t>, kéo thả chỉnh tay, chọn nhóm trưởng, lưu theo môn và học kỳ</a:t>
            </a:r>
            <a:endParaRPr lang="vi-VN" sz="1550" b="0" i="0" u="none" strike="noStrike" cap="none" noProof="0" dirty="0">
              <a:solidFill>
                <a:schemeClr val="dk1"/>
              </a:solidFill>
              <a:latin typeface="Calibri"/>
              <a:ea typeface="Calibri"/>
              <a:cs typeface="Calibri"/>
              <a:sym typeface="Calibri"/>
            </a:endParaRPr>
          </a:p>
        </p:txBody>
      </p:sp>
      <p:sp>
        <p:nvSpPr>
          <p:cNvPr id="305" name="Google Shape;305;p12"/>
          <p:cNvSpPr/>
          <p:nvPr/>
        </p:nvSpPr>
        <p:spPr>
          <a:xfrm>
            <a:off x="672940" y="4050725"/>
            <a:ext cx="1097400" cy="457200"/>
          </a:xfrm>
          <a:prstGeom prst="roundRect">
            <a:avLst>
              <a:gd name="adj" fmla="val 30000"/>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06" name="Google Shape;306;p12"/>
          <p:cNvSpPr txBox="1"/>
          <p:nvPr/>
        </p:nvSpPr>
        <p:spPr>
          <a:xfrm>
            <a:off x="672940" y="4050725"/>
            <a:ext cx="1097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50"/>
              <a:buFont typeface="Calibri"/>
              <a:buNone/>
            </a:pPr>
            <a:r>
              <a:rPr lang="vi-VN" sz="1450" b="1" i="0" u="none" strike="noStrike" cap="none" noProof="0" dirty="0">
                <a:solidFill>
                  <a:srgbClr val="FFFFFF"/>
                </a:solidFill>
                <a:latin typeface="Calibri"/>
                <a:ea typeface="Calibri"/>
                <a:cs typeface="Calibri"/>
                <a:sym typeface="Calibri"/>
              </a:rPr>
              <a:t>Quét lớp</a:t>
            </a:r>
            <a:endParaRPr lang="vi-VN" sz="1450" b="0" i="0" u="none" strike="noStrike" cap="none" noProof="0" dirty="0">
              <a:solidFill>
                <a:schemeClr val="dk1"/>
              </a:solidFill>
              <a:latin typeface="Calibri"/>
              <a:ea typeface="Calibri"/>
              <a:cs typeface="Calibri"/>
              <a:sym typeface="Calibri"/>
            </a:endParaRPr>
          </a:p>
        </p:txBody>
      </p:sp>
      <p:sp>
        <p:nvSpPr>
          <p:cNvPr id="307" name="Google Shape;307;p12"/>
          <p:cNvSpPr/>
          <p:nvPr/>
        </p:nvSpPr>
        <p:spPr>
          <a:xfrm>
            <a:off x="1861660" y="4050725"/>
            <a:ext cx="1097400" cy="457200"/>
          </a:xfrm>
          <a:prstGeom prst="roundRect">
            <a:avLst>
              <a:gd name="adj" fmla="val 300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08" name="Google Shape;308;p12"/>
          <p:cNvSpPr txBox="1"/>
          <p:nvPr/>
        </p:nvSpPr>
        <p:spPr>
          <a:xfrm>
            <a:off x="1861660" y="4050725"/>
            <a:ext cx="1097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150"/>
              <a:buFont typeface="Calibri"/>
              <a:buNone/>
            </a:pPr>
            <a:r>
              <a:rPr lang="vi-VN" sz="1450" b="1" i="0" u="none" strike="noStrike" cap="none" noProof="0" dirty="0">
                <a:solidFill>
                  <a:srgbClr val="0B1F3A"/>
                </a:solidFill>
                <a:latin typeface="Calibri"/>
                <a:ea typeface="Calibri"/>
                <a:cs typeface="Calibri"/>
                <a:sym typeface="Calibri"/>
              </a:rPr>
              <a:t>Lau bảng</a:t>
            </a:r>
            <a:endParaRPr lang="vi-VN" sz="1450" b="0" i="0" u="none" strike="noStrike" cap="none" noProof="0" dirty="0">
              <a:solidFill>
                <a:schemeClr val="dk1"/>
              </a:solidFill>
              <a:latin typeface="Calibri"/>
              <a:ea typeface="Calibri"/>
              <a:cs typeface="Calibri"/>
              <a:sym typeface="Calibri"/>
            </a:endParaRPr>
          </a:p>
        </p:txBody>
      </p:sp>
      <p:sp>
        <p:nvSpPr>
          <p:cNvPr id="309" name="Google Shape;309;p12"/>
          <p:cNvSpPr/>
          <p:nvPr/>
        </p:nvSpPr>
        <p:spPr>
          <a:xfrm>
            <a:off x="3050380" y="4050725"/>
            <a:ext cx="1097400" cy="457200"/>
          </a:xfrm>
          <a:prstGeom prst="roundRect">
            <a:avLst>
              <a:gd name="adj" fmla="val 30000"/>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10" name="Google Shape;310;p12"/>
          <p:cNvSpPr txBox="1"/>
          <p:nvPr/>
        </p:nvSpPr>
        <p:spPr>
          <a:xfrm>
            <a:off x="3050380" y="4050725"/>
            <a:ext cx="1097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150"/>
              <a:buFont typeface="Calibri"/>
              <a:buNone/>
            </a:pPr>
            <a:r>
              <a:rPr lang="vi-VN" sz="1450" b="1" i="0" u="none" strike="noStrike" cap="none" noProof="0" dirty="0">
                <a:solidFill>
                  <a:srgbClr val="0B1F3A"/>
                </a:solidFill>
                <a:latin typeface="Calibri"/>
                <a:ea typeface="Calibri"/>
                <a:cs typeface="Calibri"/>
                <a:sym typeface="Calibri"/>
              </a:rPr>
              <a:t>Đổ rác</a:t>
            </a:r>
            <a:endParaRPr lang="vi-VN" sz="1450" b="0" i="0" u="none" strike="noStrike" cap="none" noProof="0" dirty="0">
              <a:solidFill>
                <a:schemeClr val="dk1"/>
              </a:solidFill>
              <a:latin typeface="Calibri"/>
              <a:ea typeface="Calibri"/>
              <a:cs typeface="Calibri"/>
              <a:sym typeface="Calibri"/>
            </a:endParaRPr>
          </a:p>
        </p:txBody>
      </p:sp>
      <p:sp>
        <p:nvSpPr>
          <p:cNvPr id="311" name="Google Shape;311;p12"/>
          <p:cNvSpPr/>
          <p:nvPr/>
        </p:nvSpPr>
        <p:spPr>
          <a:xfrm>
            <a:off x="4239100" y="4050725"/>
            <a:ext cx="1097400" cy="457200"/>
          </a:xfrm>
          <a:prstGeom prst="roundRect">
            <a:avLst>
              <a:gd name="adj" fmla="val 30000"/>
            </a:avLst>
          </a:prstGeom>
          <a:solidFill>
            <a:srgbClr val="3ECF8E"/>
          </a:solidFill>
          <a:ln w="12700" cap="flat" cmpd="sng">
            <a:solidFill>
              <a:srgbClr val="3ECF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12" name="Google Shape;312;p12"/>
          <p:cNvSpPr txBox="1"/>
          <p:nvPr/>
        </p:nvSpPr>
        <p:spPr>
          <a:xfrm>
            <a:off x="4239100" y="4050725"/>
            <a:ext cx="1097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150"/>
              <a:buFont typeface="Calibri"/>
              <a:buNone/>
            </a:pPr>
            <a:r>
              <a:rPr lang="vi-VN" sz="1450" b="1" i="0" u="none" strike="noStrike" cap="none" noProof="0" dirty="0">
                <a:solidFill>
                  <a:srgbClr val="0B1F3A"/>
                </a:solidFill>
                <a:latin typeface="Calibri"/>
                <a:ea typeface="Calibri"/>
                <a:cs typeface="Calibri"/>
                <a:sym typeface="Calibri"/>
              </a:rPr>
              <a:t>Tưới cây</a:t>
            </a:r>
            <a:endParaRPr lang="vi-VN" sz="1450" b="0" i="0" u="none" strike="noStrike" cap="none" noProof="0" dirty="0">
              <a:solidFill>
                <a:schemeClr val="dk1"/>
              </a:solidFill>
              <a:latin typeface="Calibri"/>
              <a:ea typeface="Calibri"/>
              <a:cs typeface="Calibri"/>
              <a:sym typeface="Calibri"/>
            </a:endParaRPr>
          </a:p>
        </p:txBody>
      </p:sp>
      <p:sp>
        <p:nvSpPr>
          <p:cNvPr id="313" name="Google Shape;313;p12"/>
          <p:cNvSpPr txBox="1"/>
          <p:nvPr/>
        </p:nvSpPr>
        <p:spPr>
          <a:xfrm>
            <a:off x="672940" y="4645085"/>
            <a:ext cx="48462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100"/>
              <a:buFont typeface="Calibri"/>
              <a:buNone/>
            </a:pPr>
            <a:r>
              <a:rPr lang="vi-VN" b="0" i="0" u="none" strike="noStrike" cap="none" noProof="0" dirty="0">
                <a:solidFill>
                  <a:srgbClr val="718096"/>
                </a:solidFill>
                <a:latin typeface="Calibri"/>
                <a:ea typeface="Calibri"/>
                <a:cs typeface="Calibri"/>
                <a:sym typeface="Calibri"/>
              </a:rPr>
              <a:t>Nhiệm vụ được xoay vòng giữa các học sinh</a:t>
            </a:r>
            <a:endParaRPr lang="vi-VN" b="0" i="0" u="none" strike="noStrike" cap="none" noProof="0" dirty="0">
              <a:solidFill>
                <a:schemeClr val="dk1"/>
              </a:solidFill>
              <a:latin typeface="Calibri"/>
              <a:ea typeface="Calibri"/>
              <a:cs typeface="Calibri"/>
              <a:sym typeface="Calibri"/>
            </a:endParaRPr>
          </a:p>
        </p:txBody>
      </p:sp>
      <p:sp>
        <p:nvSpPr>
          <p:cNvPr id="314" name="Google Shape;314;p12"/>
          <p:cNvSpPr/>
          <p:nvPr/>
        </p:nvSpPr>
        <p:spPr>
          <a:xfrm>
            <a:off x="6323932" y="4005005"/>
            <a:ext cx="1508700" cy="914400"/>
          </a:xfrm>
          <a:prstGeom prst="roundRect">
            <a:avLst>
              <a:gd name="adj" fmla="val 8000"/>
            </a:avLst>
          </a:prstGeom>
          <a:solidFill>
            <a:srgbClr val="F7FAFC"/>
          </a:solidFill>
          <a:ln w="12700" cap="flat" cmpd="sng">
            <a:solidFill>
              <a:srgbClr val="F7FA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15" name="Google Shape;315;p12"/>
          <p:cNvSpPr txBox="1"/>
          <p:nvPr/>
        </p:nvSpPr>
        <p:spPr>
          <a:xfrm>
            <a:off x="6323932" y="4041581"/>
            <a:ext cx="1508700" cy="274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02A43"/>
              </a:buClr>
              <a:buSzPts val="1150"/>
              <a:buFont typeface="Calibri"/>
              <a:buNone/>
            </a:pPr>
            <a:r>
              <a:rPr lang="vi-VN" sz="1450" b="1" i="0" u="none" strike="noStrike" cap="none" noProof="0" dirty="0">
                <a:solidFill>
                  <a:srgbClr val="102A43"/>
                </a:solidFill>
                <a:latin typeface="Calibri"/>
                <a:ea typeface="Calibri"/>
                <a:cs typeface="Calibri"/>
                <a:sym typeface="Calibri"/>
              </a:rPr>
              <a:t>Nhóm 1</a:t>
            </a:r>
            <a:endParaRPr lang="vi-VN" sz="1450" b="0" i="0" u="none" strike="noStrike" cap="none" noProof="0" dirty="0">
              <a:solidFill>
                <a:schemeClr val="dk1"/>
              </a:solidFill>
              <a:latin typeface="Calibri"/>
              <a:ea typeface="Calibri"/>
              <a:cs typeface="Calibri"/>
              <a:sym typeface="Calibri"/>
            </a:endParaRPr>
          </a:p>
        </p:txBody>
      </p:sp>
      <p:sp>
        <p:nvSpPr>
          <p:cNvPr id="316" name="Google Shape;316;p12"/>
          <p:cNvSpPr/>
          <p:nvPr/>
        </p:nvSpPr>
        <p:spPr>
          <a:xfrm>
            <a:off x="6506812" y="4462205"/>
            <a:ext cx="255900" cy="2559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17" name="Google Shape;317;p12"/>
          <p:cNvSpPr/>
          <p:nvPr/>
        </p:nvSpPr>
        <p:spPr>
          <a:xfrm>
            <a:off x="682685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18" name="Google Shape;318;p12"/>
          <p:cNvSpPr/>
          <p:nvPr/>
        </p:nvSpPr>
        <p:spPr>
          <a:xfrm>
            <a:off x="714689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19" name="Google Shape;319;p12"/>
          <p:cNvSpPr/>
          <p:nvPr/>
        </p:nvSpPr>
        <p:spPr>
          <a:xfrm>
            <a:off x="746693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0" name="Google Shape;320;p12"/>
          <p:cNvSpPr/>
          <p:nvPr/>
        </p:nvSpPr>
        <p:spPr>
          <a:xfrm>
            <a:off x="7969852" y="4005005"/>
            <a:ext cx="1508700" cy="914400"/>
          </a:xfrm>
          <a:prstGeom prst="roundRect">
            <a:avLst>
              <a:gd name="adj" fmla="val 8000"/>
            </a:avLst>
          </a:prstGeom>
          <a:solidFill>
            <a:srgbClr val="F7FAFC"/>
          </a:solidFill>
          <a:ln w="12700" cap="flat" cmpd="sng">
            <a:solidFill>
              <a:srgbClr val="F7FA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1" name="Google Shape;321;p12"/>
          <p:cNvSpPr txBox="1"/>
          <p:nvPr/>
        </p:nvSpPr>
        <p:spPr>
          <a:xfrm>
            <a:off x="7969852" y="4041581"/>
            <a:ext cx="1508700" cy="274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02A43"/>
              </a:buClr>
              <a:buSzPts val="1150"/>
              <a:buFont typeface="Calibri"/>
              <a:buNone/>
            </a:pPr>
            <a:r>
              <a:rPr lang="vi-VN" sz="1450" b="1" i="0" u="none" strike="noStrike" cap="none" noProof="0" dirty="0">
                <a:solidFill>
                  <a:srgbClr val="102A43"/>
                </a:solidFill>
                <a:latin typeface="Calibri"/>
                <a:ea typeface="Calibri"/>
                <a:cs typeface="Calibri"/>
                <a:sym typeface="Calibri"/>
              </a:rPr>
              <a:t>Nhóm 2</a:t>
            </a:r>
            <a:endParaRPr lang="vi-VN" sz="1450" b="0" i="0" u="none" strike="noStrike" cap="none" noProof="0" dirty="0">
              <a:solidFill>
                <a:schemeClr val="dk1"/>
              </a:solidFill>
              <a:latin typeface="Calibri"/>
              <a:ea typeface="Calibri"/>
              <a:cs typeface="Calibri"/>
              <a:sym typeface="Calibri"/>
            </a:endParaRPr>
          </a:p>
        </p:txBody>
      </p:sp>
      <p:sp>
        <p:nvSpPr>
          <p:cNvPr id="322" name="Google Shape;322;p12"/>
          <p:cNvSpPr/>
          <p:nvPr/>
        </p:nvSpPr>
        <p:spPr>
          <a:xfrm>
            <a:off x="8152732" y="4462205"/>
            <a:ext cx="255900" cy="2559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3" name="Google Shape;323;p12"/>
          <p:cNvSpPr/>
          <p:nvPr/>
        </p:nvSpPr>
        <p:spPr>
          <a:xfrm>
            <a:off x="847277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4" name="Google Shape;324;p12"/>
          <p:cNvSpPr/>
          <p:nvPr/>
        </p:nvSpPr>
        <p:spPr>
          <a:xfrm>
            <a:off x="879281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5" name="Google Shape;325;p12"/>
          <p:cNvSpPr/>
          <p:nvPr/>
        </p:nvSpPr>
        <p:spPr>
          <a:xfrm>
            <a:off x="911285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6" name="Google Shape;326;p12"/>
          <p:cNvSpPr/>
          <p:nvPr/>
        </p:nvSpPr>
        <p:spPr>
          <a:xfrm>
            <a:off x="9615772" y="4005005"/>
            <a:ext cx="1508700" cy="914400"/>
          </a:xfrm>
          <a:prstGeom prst="roundRect">
            <a:avLst>
              <a:gd name="adj" fmla="val 8000"/>
            </a:avLst>
          </a:prstGeom>
          <a:solidFill>
            <a:srgbClr val="F7FAFC"/>
          </a:solidFill>
          <a:ln w="12700" cap="flat" cmpd="sng">
            <a:solidFill>
              <a:srgbClr val="F7FA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7" name="Google Shape;327;p12"/>
          <p:cNvSpPr txBox="1"/>
          <p:nvPr/>
        </p:nvSpPr>
        <p:spPr>
          <a:xfrm>
            <a:off x="9615772" y="4041581"/>
            <a:ext cx="1508700" cy="274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02A43"/>
              </a:buClr>
              <a:buSzPts val="1150"/>
              <a:buFont typeface="Calibri"/>
              <a:buNone/>
            </a:pPr>
            <a:r>
              <a:rPr lang="vi-VN" sz="1450" b="1" i="0" u="none" strike="noStrike" cap="none" noProof="0" dirty="0">
                <a:solidFill>
                  <a:srgbClr val="102A43"/>
                </a:solidFill>
                <a:latin typeface="Calibri"/>
                <a:ea typeface="Calibri"/>
                <a:cs typeface="Calibri"/>
                <a:sym typeface="Calibri"/>
              </a:rPr>
              <a:t>Nhóm 3</a:t>
            </a:r>
            <a:endParaRPr lang="vi-VN" sz="1450" b="0" i="0" u="none" strike="noStrike" cap="none" noProof="0" dirty="0">
              <a:solidFill>
                <a:schemeClr val="dk1"/>
              </a:solidFill>
              <a:latin typeface="Calibri"/>
              <a:ea typeface="Calibri"/>
              <a:cs typeface="Calibri"/>
              <a:sym typeface="Calibri"/>
            </a:endParaRPr>
          </a:p>
        </p:txBody>
      </p:sp>
      <p:sp>
        <p:nvSpPr>
          <p:cNvPr id="328" name="Google Shape;328;p12"/>
          <p:cNvSpPr/>
          <p:nvPr/>
        </p:nvSpPr>
        <p:spPr>
          <a:xfrm>
            <a:off x="9798652" y="4462205"/>
            <a:ext cx="255900" cy="2559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29" name="Google Shape;329;p12"/>
          <p:cNvSpPr/>
          <p:nvPr/>
        </p:nvSpPr>
        <p:spPr>
          <a:xfrm>
            <a:off x="1011869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30" name="Google Shape;330;p12"/>
          <p:cNvSpPr/>
          <p:nvPr/>
        </p:nvSpPr>
        <p:spPr>
          <a:xfrm>
            <a:off x="1043873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31" name="Google Shape;331;p12"/>
          <p:cNvSpPr/>
          <p:nvPr/>
        </p:nvSpPr>
        <p:spPr>
          <a:xfrm>
            <a:off x="10758772" y="4462205"/>
            <a:ext cx="255900" cy="255900"/>
          </a:xfrm>
          <a:prstGeom prst="ellipse">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32" name="Google Shape;332;p12"/>
          <p:cNvSpPr txBox="1"/>
          <p:nvPr/>
        </p:nvSpPr>
        <p:spPr>
          <a:xfrm>
            <a:off x="6323932" y="4965125"/>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100"/>
              <a:buFont typeface="Calibri"/>
              <a:buNone/>
            </a:pPr>
            <a:r>
              <a:rPr lang="vi-VN" b="0" i="0" u="none" strike="noStrike" cap="none" noProof="0" dirty="0">
                <a:solidFill>
                  <a:srgbClr val="718096"/>
                </a:solidFill>
                <a:latin typeface="Calibri"/>
                <a:ea typeface="Calibri"/>
                <a:cs typeface="Calibri"/>
                <a:sym typeface="Calibri"/>
              </a:rPr>
              <a:t>Chấm cam: nhóm trưởng</a:t>
            </a:r>
            <a:endParaRPr lang="vi-VN" b="0" i="0" u="none" strike="noStrike" cap="none" noProof="0" dirty="0">
              <a:solidFill>
                <a:schemeClr val="dk1"/>
              </a:solidFill>
              <a:latin typeface="Calibri"/>
              <a:ea typeface="Calibri"/>
              <a:cs typeface="Calibri"/>
              <a:sym typeface="Calibri"/>
            </a:endParaRPr>
          </a:p>
        </p:txBody>
      </p:sp>
      <p:sp>
        <p:nvSpPr>
          <p:cNvPr id="333" name="Google Shape;333;p12"/>
          <p:cNvSpPr/>
          <p:nvPr/>
        </p:nvSpPr>
        <p:spPr>
          <a:xfrm>
            <a:off x="444340" y="5376605"/>
            <a:ext cx="11091600" cy="548700"/>
          </a:xfrm>
          <a:prstGeom prst="roundRect">
            <a:avLst>
              <a:gd name="adj" fmla="val 16667"/>
            </a:avLst>
          </a:prstGeom>
          <a:solidFill>
            <a:srgbClr val="0B1F3A"/>
          </a:solidFill>
          <a:ln w="12700" cap="flat" cmpd="sng">
            <a:solidFill>
              <a:srgbClr val="0B1F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34" name="Google Shape;334;p12"/>
          <p:cNvSpPr txBox="1"/>
          <p:nvPr/>
        </p:nvSpPr>
        <p:spPr>
          <a:xfrm>
            <a:off x="627220" y="5376605"/>
            <a:ext cx="107259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vi-VN" sz="1700" b="1" i="0" u="none" strike="noStrike" cap="none" noProof="0" dirty="0">
                <a:solidFill>
                  <a:srgbClr val="FFFFFF"/>
                </a:solidFill>
                <a:latin typeface="Calibri"/>
                <a:ea typeface="Calibri"/>
                <a:cs typeface="Calibri"/>
                <a:sym typeface="Calibri"/>
              </a:rPr>
              <a:t>Không chỉ chia ngẫu nhiên – mọi thay đổi được ghi nhật ký và có thể xem lại lịch sử các lần chia.</a:t>
            </a:r>
            <a:endParaRPr lang="vi-VN" sz="17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Shape 339"/>
        <p:cNvGrpSpPr/>
        <p:nvPr/>
      </p:nvGrpSpPr>
      <p:grpSpPr>
        <a:xfrm>
          <a:off x="0" y="0"/>
          <a:ext cx="0" cy="0"/>
          <a:chOff x="0" y="0"/>
          <a:chExt cx="0" cy="0"/>
        </a:xfrm>
      </p:grpSpPr>
      <p:sp>
        <p:nvSpPr>
          <p:cNvPr id="340" name="Google Shape;340;p13"/>
          <p:cNvSpPr txBox="1"/>
          <p:nvPr/>
        </p:nvSpPr>
        <p:spPr>
          <a:xfrm>
            <a:off x="548640" y="347472"/>
            <a:ext cx="11064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2800"/>
              <a:buFont typeface="Calibri"/>
              <a:buNone/>
            </a:pPr>
            <a:r>
              <a:rPr lang="vi-VN" sz="2800" b="1" i="0" u="none" strike="noStrike" cap="none" noProof="0" dirty="0">
                <a:solidFill>
                  <a:srgbClr val="102A43"/>
                </a:solidFill>
                <a:latin typeface="Calibri"/>
                <a:ea typeface="Calibri"/>
                <a:cs typeface="Calibri"/>
                <a:sym typeface="Calibri"/>
              </a:rPr>
              <a:t>8. Thiết kế dữ liệu và thực nghiệm</a:t>
            </a:r>
            <a:endParaRPr lang="vi-VN" sz="2800" b="0" i="0" u="none" strike="noStrike" cap="none" noProof="0" dirty="0">
              <a:solidFill>
                <a:schemeClr val="dk1"/>
              </a:solidFill>
              <a:latin typeface="Calibri"/>
              <a:ea typeface="Calibri"/>
              <a:cs typeface="Calibri"/>
              <a:sym typeface="Calibri"/>
            </a:endParaRPr>
          </a:p>
        </p:txBody>
      </p:sp>
      <p:sp>
        <p:nvSpPr>
          <p:cNvPr id="341" name="Google Shape;341;p13"/>
          <p:cNvSpPr txBox="1"/>
          <p:nvPr/>
        </p:nvSpPr>
        <p:spPr>
          <a:xfrm>
            <a:off x="548640" y="932688"/>
            <a:ext cx="110642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72B8"/>
              </a:buClr>
              <a:buSzPts val="1400"/>
              <a:buFont typeface="Calibri"/>
              <a:buNone/>
            </a:pPr>
            <a:r>
              <a:rPr lang="vi-VN" sz="1600" b="1" noProof="0" dirty="0">
                <a:solidFill>
                  <a:srgbClr val="1E72B8"/>
                </a:solidFill>
                <a:latin typeface="Calibri"/>
                <a:ea typeface="Calibri"/>
                <a:cs typeface="Calibri"/>
                <a:sym typeface="Calibri"/>
              </a:rPr>
              <a:t>Đ</a:t>
            </a:r>
            <a:r>
              <a:rPr lang="vi-VN" sz="1600" b="1" i="0" u="none" strike="noStrike" cap="none" noProof="0" dirty="0">
                <a:solidFill>
                  <a:srgbClr val="1E72B8"/>
                </a:solidFill>
                <a:latin typeface="Calibri"/>
                <a:ea typeface="Calibri"/>
                <a:cs typeface="Calibri"/>
                <a:sym typeface="Calibri"/>
              </a:rPr>
              <a:t>ánh giá bằng so sánh trước – sau tại lớp 10A5.</a:t>
            </a:r>
            <a:endParaRPr lang="vi-VN" sz="1600" b="0" i="0" u="none" strike="noStrike" cap="none" noProof="0" dirty="0">
              <a:solidFill>
                <a:schemeClr val="dk1"/>
              </a:solidFill>
              <a:latin typeface="Calibri"/>
              <a:ea typeface="Calibri"/>
              <a:cs typeface="Calibri"/>
              <a:sym typeface="Calibri"/>
            </a:endParaRPr>
          </a:p>
        </p:txBody>
      </p:sp>
      <p:sp>
        <p:nvSpPr>
          <p:cNvPr id="342" name="Google Shape;342;p13"/>
          <p:cNvSpPr txBox="1"/>
          <p:nvPr/>
        </p:nvSpPr>
        <p:spPr>
          <a:xfrm>
            <a:off x="548640" y="6400800"/>
            <a:ext cx="9144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718096"/>
              </a:buClr>
              <a:buSzPts val="1000"/>
              <a:buFont typeface="Calibri"/>
              <a:buNone/>
            </a:pPr>
            <a:r>
              <a:rPr lang="vi-VN" sz="1300" b="0" i="0" u="none" strike="noStrike" cap="none" noProof="0" dirty="0">
                <a:solidFill>
                  <a:srgbClr val="718096"/>
                </a:solidFill>
                <a:latin typeface="Calibri"/>
                <a:ea typeface="Calibri"/>
                <a:cs typeface="Calibri"/>
                <a:sym typeface="Calibri"/>
              </a:rPr>
              <a:t>S-</a:t>
            </a:r>
            <a:r>
              <a:rPr lang="vi-VN" sz="1300" b="0" i="0" u="none" strike="noStrike" cap="none" noProof="0" dirty="0" err="1">
                <a:solidFill>
                  <a:srgbClr val="718096"/>
                </a:solidFill>
                <a:latin typeface="Calibri"/>
                <a:ea typeface="Calibri"/>
                <a:cs typeface="Calibri"/>
                <a:sym typeface="Calibri"/>
              </a:rPr>
              <a:t>Class</a:t>
            </a:r>
            <a:r>
              <a:rPr lang="vi-VN" sz="1300" b="0" i="0" u="none" strike="noStrike" cap="none" noProof="0" dirty="0">
                <a:solidFill>
                  <a:srgbClr val="718096"/>
                </a:solidFill>
                <a:latin typeface="Calibri"/>
                <a:ea typeface="Calibri"/>
                <a:cs typeface="Calibri"/>
                <a:sym typeface="Calibri"/>
              </a:rPr>
              <a:t> • Phần mềm hỗ trợ quản lý lớp học • THPT chuyên Lê Quý Đôn – Đà </a:t>
            </a:r>
            <a:r>
              <a:rPr lang="vi-VN" sz="1300" b="0" i="0" u="none" strike="noStrike" cap="none" noProof="0" dirty="0" err="1">
                <a:solidFill>
                  <a:srgbClr val="718096"/>
                </a:solidFill>
                <a:latin typeface="Calibri"/>
                <a:ea typeface="Calibri"/>
                <a:cs typeface="Calibri"/>
                <a:sym typeface="Calibri"/>
              </a:rPr>
              <a:t>Nẵng</a:t>
            </a:r>
            <a:endParaRPr lang="vi-VN" sz="1300" b="0" i="0" u="none" strike="noStrike" cap="none" noProof="0" dirty="0">
              <a:solidFill>
                <a:schemeClr val="dk1"/>
              </a:solidFill>
              <a:latin typeface="Calibri"/>
              <a:ea typeface="Calibri"/>
              <a:cs typeface="Calibri"/>
              <a:sym typeface="Calibri"/>
            </a:endParaRPr>
          </a:p>
        </p:txBody>
      </p:sp>
      <p:sp>
        <p:nvSpPr>
          <p:cNvPr id="343" name="Google Shape;343;p13"/>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718096"/>
              </a:buClr>
              <a:buSzPts val="1000"/>
              <a:buFont typeface="Calibri"/>
              <a:buNone/>
            </a:pPr>
            <a:r>
              <a:rPr lang="vi-VN" sz="1000" b="0" i="0" u="none" strike="noStrike" cap="none" noProof="0" dirty="0">
                <a:solidFill>
                  <a:srgbClr val="718096"/>
                </a:solidFill>
                <a:latin typeface="Calibri"/>
                <a:ea typeface="Calibri"/>
                <a:cs typeface="Calibri"/>
                <a:sym typeface="Calibri"/>
              </a:rPr>
              <a:t>9</a:t>
            </a:r>
            <a:endParaRPr lang="vi-VN" sz="1000" b="0" i="0" u="none" strike="noStrike" cap="none" noProof="0" dirty="0">
              <a:solidFill>
                <a:schemeClr val="dk1"/>
              </a:solidFill>
              <a:latin typeface="Calibri"/>
              <a:ea typeface="Calibri"/>
              <a:cs typeface="Calibri"/>
              <a:sym typeface="Calibri"/>
            </a:endParaRPr>
          </a:p>
        </p:txBody>
      </p:sp>
      <p:sp>
        <p:nvSpPr>
          <p:cNvPr id="344" name="Google Shape;344;p13"/>
          <p:cNvSpPr txBox="1"/>
          <p:nvPr/>
        </p:nvSpPr>
        <p:spPr>
          <a:xfrm>
            <a:off x="655875" y="1495000"/>
            <a:ext cx="79131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1500"/>
              <a:buFont typeface="Calibri"/>
              <a:buNone/>
            </a:pPr>
            <a:r>
              <a:rPr lang="vi-VN" sz="1800" b="1" i="0" u="none" strike="noStrike" cap="none" noProof="0" dirty="0">
                <a:solidFill>
                  <a:srgbClr val="102A43"/>
                </a:solidFill>
                <a:latin typeface="Calibri"/>
                <a:ea typeface="Calibri"/>
                <a:cs typeface="Calibri"/>
                <a:sym typeface="Calibri"/>
              </a:rPr>
              <a:t>Thực nghiệm và đánh giá</a:t>
            </a:r>
            <a:endParaRPr lang="vi-VN" sz="1800" b="0" i="0" u="none" strike="noStrike" cap="none" noProof="0" dirty="0">
              <a:solidFill>
                <a:schemeClr val="dk1"/>
              </a:solidFill>
              <a:latin typeface="Calibri"/>
              <a:ea typeface="Calibri"/>
              <a:cs typeface="Calibri"/>
              <a:sym typeface="Calibri"/>
            </a:endParaRPr>
          </a:p>
        </p:txBody>
      </p:sp>
      <p:sp>
        <p:nvSpPr>
          <p:cNvPr id="345" name="Google Shape;345;p13"/>
          <p:cNvSpPr/>
          <p:nvPr/>
        </p:nvSpPr>
        <p:spPr>
          <a:xfrm>
            <a:off x="655875" y="1906479"/>
            <a:ext cx="7952400" cy="658500"/>
          </a:xfrm>
          <a:prstGeom prst="roundRect">
            <a:avLst>
              <a:gd name="adj" fmla="val 11111"/>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46" name="Google Shape;346;p13"/>
          <p:cNvSpPr/>
          <p:nvPr/>
        </p:nvSpPr>
        <p:spPr>
          <a:xfrm>
            <a:off x="853701" y="2052782"/>
            <a:ext cx="1582800" cy="365700"/>
          </a:xfrm>
          <a:prstGeom prst="roundRect">
            <a:avLst>
              <a:gd name="adj" fmla="val 37500"/>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47" name="Google Shape;347;p13"/>
          <p:cNvSpPr txBox="1"/>
          <p:nvPr/>
        </p:nvSpPr>
        <p:spPr>
          <a:xfrm>
            <a:off x="853701" y="2052782"/>
            <a:ext cx="1582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100"/>
              <a:buFont typeface="Calibri"/>
              <a:buNone/>
            </a:pPr>
            <a:r>
              <a:rPr lang="vi-VN" b="1" i="0" u="none" strike="noStrike" cap="none" noProof="0" dirty="0">
                <a:solidFill>
                  <a:srgbClr val="0B1F3A"/>
                </a:solidFill>
                <a:latin typeface="Calibri"/>
                <a:ea typeface="Calibri"/>
                <a:cs typeface="Calibri"/>
                <a:sym typeface="Calibri"/>
              </a:rPr>
              <a:t>Đối tượng</a:t>
            </a:r>
            <a:endParaRPr lang="vi-VN" b="0" i="0" u="none" strike="noStrike" cap="none" noProof="0" dirty="0">
              <a:solidFill>
                <a:schemeClr val="dk1"/>
              </a:solidFill>
              <a:latin typeface="Calibri"/>
              <a:ea typeface="Calibri"/>
              <a:cs typeface="Calibri"/>
              <a:sym typeface="Calibri"/>
            </a:endParaRPr>
          </a:p>
        </p:txBody>
      </p:sp>
      <p:sp>
        <p:nvSpPr>
          <p:cNvPr id="348" name="Google Shape;348;p13"/>
          <p:cNvSpPr txBox="1"/>
          <p:nvPr/>
        </p:nvSpPr>
        <p:spPr>
          <a:xfrm>
            <a:off x="2700076" y="1906479"/>
            <a:ext cx="57369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Lớp 10A5: học sinh, cán sự, GVCN</a:t>
            </a:r>
            <a:endParaRPr lang="vi-VN" sz="1500" b="0" i="0" u="none" strike="noStrike" cap="none" noProof="0" dirty="0">
              <a:solidFill>
                <a:schemeClr val="dk1"/>
              </a:solidFill>
              <a:latin typeface="Calibri"/>
              <a:ea typeface="Calibri"/>
              <a:cs typeface="Calibri"/>
              <a:sym typeface="Calibri"/>
            </a:endParaRPr>
          </a:p>
        </p:txBody>
      </p:sp>
      <p:sp>
        <p:nvSpPr>
          <p:cNvPr id="349" name="Google Shape;349;p13"/>
          <p:cNvSpPr/>
          <p:nvPr/>
        </p:nvSpPr>
        <p:spPr>
          <a:xfrm>
            <a:off x="655875" y="2656284"/>
            <a:ext cx="7952400" cy="658500"/>
          </a:xfrm>
          <a:prstGeom prst="roundRect">
            <a:avLst>
              <a:gd name="adj" fmla="val 11111"/>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50" name="Google Shape;350;p13"/>
          <p:cNvSpPr/>
          <p:nvPr/>
        </p:nvSpPr>
        <p:spPr>
          <a:xfrm>
            <a:off x="853701" y="2802588"/>
            <a:ext cx="1582800" cy="365700"/>
          </a:xfrm>
          <a:prstGeom prst="roundRect">
            <a:avLst>
              <a:gd name="adj" fmla="val 37500"/>
            </a:avLst>
          </a:prstGeom>
          <a:solidFill>
            <a:srgbClr val="1E72B8"/>
          </a:solidFill>
          <a:ln w="12700" cap="flat" cmpd="sng">
            <a:solidFill>
              <a:srgbClr val="1E72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51" name="Google Shape;351;p13"/>
          <p:cNvSpPr txBox="1"/>
          <p:nvPr/>
        </p:nvSpPr>
        <p:spPr>
          <a:xfrm>
            <a:off x="853701" y="2802588"/>
            <a:ext cx="1582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vi-VN" b="1" i="0" u="none" strike="noStrike" cap="none" noProof="0" dirty="0">
                <a:solidFill>
                  <a:srgbClr val="FFFFFF"/>
                </a:solidFill>
                <a:latin typeface="Calibri"/>
                <a:ea typeface="Calibri"/>
                <a:cs typeface="Calibri"/>
                <a:sym typeface="Calibri"/>
              </a:rPr>
              <a:t>Số liệu</a:t>
            </a:r>
            <a:endParaRPr lang="vi-VN" b="0" i="0" u="none" strike="noStrike" cap="none" noProof="0" dirty="0">
              <a:solidFill>
                <a:schemeClr val="dk1"/>
              </a:solidFill>
              <a:latin typeface="Calibri"/>
              <a:ea typeface="Calibri"/>
              <a:cs typeface="Calibri"/>
              <a:sym typeface="Calibri"/>
            </a:endParaRPr>
          </a:p>
        </p:txBody>
      </p:sp>
      <p:sp>
        <p:nvSpPr>
          <p:cNvPr id="352" name="Google Shape;352;p13"/>
          <p:cNvSpPr txBox="1"/>
          <p:nvPr/>
        </p:nvSpPr>
        <p:spPr>
          <a:xfrm>
            <a:off x="2700076" y="2656284"/>
            <a:ext cx="57369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err="1">
                <a:solidFill>
                  <a:srgbClr val="333333"/>
                </a:solidFill>
                <a:latin typeface="Calibri"/>
                <a:ea typeface="Calibri"/>
                <a:cs typeface="Calibri"/>
                <a:sym typeface="Calibri"/>
              </a:rPr>
              <a:t>Google</a:t>
            </a:r>
            <a:r>
              <a:rPr lang="vi-VN" sz="1500" b="0" i="0" u="none" strike="noStrike" cap="none" noProof="0" dirty="0">
                <a:solidFill>
                  <a:srgbClr val="333333"/>
                </a:solidFill>
                <a:latin typeface="Calibri"/>
                <a:ea typeface="Calibri"/>
                <a:cs typeface="Calibri"/>
                <a:sym typeface="Calibri"/>
              </a:rPr>
              <a:t> </a:t>
            </a:r>
            <a:r>
              <a:rPr lang="vi-VN" sz="1500" b="0" i="0" u="none" strike="noStrike" cap="none" noProof="0" dirty="0" err="1">
                <a:solidFill>
                  <a:srgbClr val="333333"/>
                </a:solidFill>
                <a:latin typeface="Calibri"/>
                <a:ea typeface="Calibri"/>
                <a:cs typeface="Calibri"/>
                <a:sym typeface="Calibri"/>
              </a:rPr>
              <a:t>Forms</a:t>
            </a:r>
            <a:r>
              <a:rPr lang="vi-VN" sz="1500" b="0" i="0" u="none" strike="noStrike" cap="none" noProof="0" dirty="0">
                <a:solidFill>
                  <a:srgbClr val="333333"/>
                </a:solidFill>
                <a:latin typeface="Calibri"/>
                <a:ea typeface="Calibri"/>
                <a:cs typeface="Calibri"/>
                <a:sym typeface="Calibri"/>
              </a:rPr>
              <a:t> trước/sau; đo thời gian thủ công so với dùng S-</a:t>
            </a:r>
            <a:r>
              <a:rPr lang="vi-VN" sz="1500" b="0" i="0" u="none" strike="noStrike" cap="none" noProof="0" dirty="0" err="1">
                <a:solidFill>
                  <a:srgbClr val="333333"/>
                </a:solidFill>
                <a:latin typeface="Calibri"/>
                <a:ea typeface="Calibri"/>
                <a:cs typeface="Calibri"/>
                <a:sym typeface="Calibri"/>
              </a:rPr>
              <a:t>Class</a:t>
            </a:r>
            <a:endParaRPr lang="vi-VN" sz="1500" b="0" i="0" u="none" strike="noStrike" cap="none" noProof="0" dirty="0">
              <a:solidFill>
                <a:schemeClr val="dk1"/>
              </a:solidFill>
              <a:latin typeface="Calibri"/>
              <a:ea typeface="Calibri"/>
              <a:cs typeface="Calibri"/>
              <a:sym typeface="Calibri"/>
            </a:endParaRPr>
          </a:p>
        </p:txBody>
      </p:sp>
      <p:sp>
        <p:nvSpPr>
          <p:cNvPr id="353" name="Google Shape;353;p13"/>
          <p:cNvSpPr/>
          <p:nvPr/>
        </p:nvSpPr>
        <p:spPr>
          <a:xfrm>
            <a:off x="655875" y="3406089"/>
            <a:ext cx="7952400" cy="658500"/>
          </a:xfrm>
          <a:prstGeom prst="roundRect">
            <a:avLst>
              <a:gd name="adj" fmla="val 11111"/>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54" name="Google Shape;354;p13"/>
          <p:cNvSpPr/>
          <p:nvPr/>
        </p:nvSpPr>
        <p:spPr>
          <a:xfrm>
            <a:off x="853701" y="3552393"/>
            <a:ext cx="1582800" cy="365700"/>
          </a:xfrm>
          <a:prstGeom prst="roundRect">
            <a:avLst>
              <a:gd name="adj" fmla="val 37500"/>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55" name="Google Shape;355;p13"/>
          <p:cNvSpPr txBox="1"/>
          <p:nvPr/>
        </p:nvSpPr>
        <p:spPr>
          <a:xfrm>
            <a:off x="853701" y="3552393"/>
            <a:ext cx="1582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100"/>
              <a:buFont typeface="Calibri"/>
              <a:buNone/>
            </a:pPr>
            <a:r>
              <a:rPr lang="vi-VN" b="1" i="0" u="none" strike="noStrike" cap="none" noProof="0" dirty="0">
                <a:solidFill>
                  <a:srgbClr val="0B1F3A"/>
                </a:solidFill>
                <a:latin typeface="Calibri"/>
                <a:ea typeface="Calibri"/>
                <a:cs typeface="Calibri"/>
                <a:sym typeface="Calibri"/>
              </a:rPr>
              <a:t>Chỉ tiêu</a:t>
            </a:r>
            <a:endParaRPr lang="vi-VN" b="0" i="0" u="none" strike="noStrike" cap="none" noProof="0" dirty="0">
              <a:solidFill>
                <a:schemeClr val="dk1"/>
              </a:solidFill>
              <a:latin typeface="Calibri"/>
              <a:ea typeface="Calibri"/>
              <a:cs typeface="Calibri"/>
              <a:sym typeface="Calibri"/>
            </a:endParaRPr>
          </a:p>
        </p:txBody>
      </p:sp>
      <p:sp>
        <p:nvSpPr>
          <p:cNvPr id="356" name="Google Shape;356;p13"/>
          <p:cNvSpPr txBox="1"/>
          <p:nvPr/>
        </p:nvSpPr>
        <p:spPr>
          <a:xfrm>
            <a:off x="2700076" y="3406089"/>
            <a:ext cx="57369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Thời gian hoàn thành, số lần bỏ sót lịch, hài lòng (</a:t>
            </a:r>
            <a:r>
              <a:rPr lang="vi-VN" sz="1500" b="0" i="0" u="none" strike="noStrike" cap="none" noProof="0" dirty="0" err="1">
                <a:solidFill>
                  <a:srgbClr val="333333"/>
                </a:solidFill>
                <a:latin typeface="Calibri"/>
                <a:ea typeface="Calibri"/>
                <a:cs typeface="Calibri"/>
                <a:sym typeface="Calibri"/>
              </a:rPr>
              <a:t>Likert</a:t>
            </a:r>
            <a:r>
              <a:rPr lang="vi-VN" sz="1500" b="0" i="0" u="none" strike="noStrike" cap="none" noProof="0" dirty="0">
                <a:solidFill>
                  <a:srgbClr val="333333"/>
                </a:solidFill>
                <a:latin typeface="Calibri"/>
                <a:ea typeface="Calibri"/>
                <a:cs typeface="Calibri"/>
                <a:sym typeface="Calibri"/>
              </a:rPr>
              <a:t> 1–5), số lỗi</a:t>
            </a:r>
            <a:endParaRPr lang="vi-VN" sz="1500" b="0" i="0" u="none" strike="noStrike" cap="none" noProof="0" dirty="0">
              <a:solidFill>
                <a:schemeClr val="dk1"/>
              </a:solidFill>
              <a:latin typeface="Calibri"/>
              <a:ea typeface="Calibri"/>
              <a:cs typeface="Calibri"/>
              <a:sym typeface="Calibri"/>
            </a:endParaRPr>
          </a:p>
        </p:txBody>
      </p:sp>
      <p:sp>
        <p:nvSpPr>
          <p:cNvPr id="357" name="Google Shape;357;p13"/>
          <p:cNvSpPr/>
          <p:nvPr/>
        </p:nvSpPr>
        <p:spPr>
          <a:xfrm>
            <a:off x="655875" y="4155895"/>
            <a:ext cx="7952400" cy="658500"/>
          </a:xfrm>
          <a:prstGeom prst="roundRect">
            <a:avLst>
              <a:gd name="adj" fmla="val 11111"/>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58" name="Google Shape;358;p13"/>
          <p:cNvSpPr/>
          <p:nvPr/>
        </p:nvSpPr>
        <p:spPr>
          <a:xfrm>
            <a:off x="853701" y="4302198"/>
            <a:ext cx="1582800" cy="365700"/>
          </a:xfrm>
          <a:prstGeom prst="roundRect">
            <a:avLst>
              <a:gd name="adj" fmla="val 37500"/>
            </a:avLst>
          </a:prstGeom>
          <a:solidFill>
            <a:srgbClr val="3ECF8E"/>
          </a:solidFill>
          <a:ln w="12700" cap="flat" cmpd="sng">
            <a:solidFill>
              <a:srgbClr val="3ECF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59" name="Google Shape;359;p13"/>
          <p:cNvSpPr txBox="1"/>
          <p:nvPr/>
        </p:nvSpPr>
        <p:spPr>
          <a:xfrm>
            <a:off x="853701" y="4302198"/>
            <a:ext cx="1582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100"/>
              <a:buFont typeface="Calibri"/>
              <a:buNone/>
            </a:pPr>
            <a:r>
              <a:rPr lang="vi-VN" b="1" i="0" u="none" strike="noStrike" cap="none" noProof="0" dirty="0">
                <a:solidFill>
                  <a:srgbClr val="0B1F3A"/>
                </a:solidFill>
                <a:latin typeface="Calibri"/>
                <a:ea typeface="Calibri"/>
                <a:cs typeface="Calibri"/>
                <a:sym typeface="Calibri"/>
              </a:rPr>
              <a:t>Phân tích</a:t>
            </a:r>
            <a:endParaRPr lang="vi-VN" b="0" i="0" u="none" strike="noStrike" cap="none" noProof="0" dirty="0">
              <a:solidFill>
                <a:schemeClr val="dk1"/>
              </a:solidFill>
              <a:latin typeface="Calibri"/>
              <a:ea typeface="Calibri"/>
              <a:cs typeface="Calibri"/>
              <a:sym typeface="Calibri"/>
            </a:endParaRPr>
          </a:p>
        </p:txBody>
      </p:sp>
      <p:sp>
        <p:nvSpPr>
          <p:cNvPr id="360" name="Google Shape;360;p13"/>
          <p:cNvSpPr txBox="1"/>
          <p:nvPr/>
        </p:nvSpPr>
        <p:spPr>
          <a:xfrm>
            <a:off x="2700076" y="4155895"/>
            <a:ext cx="57369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Excel: trung bình, so sánh trước – sau</a:t>
            </a:r>
            <a:endParaRPr lang="vi-VN" sz="1500" b="0" i="0" u="none" strike="noStrike" cap="none" noProof="0" dirty="0">
              <a:solidFill>
                <a:schemeClr val="dk1"/>
              </a:solidFill>
              <a:latin typeface="Calibri"/>
              <a:ea typeface="Calibri"/>
              <a:cs typeface="Calibri"/>
              <a:sym typeface="Calibri"/>
            </a:endParaRPr>
          </a:p>
        </p:txBody>
      </p:sp>
      <p:sp>
        <p:nvSpPr>
          <p:cNvPr id="361" name="Google Shape;361;p13"/>
          <p:cNvSpPr/>
          <p:nvPr/>
        </p:nvSpPr>
        <p:spPr>
          <a:xfrm>
            <a:off x="655875" y="4905700"/>
            <a:ext cx="7952400" cy="658500"/>
          </a:xfrm>
          <a:prstGeom prst="roundRect">
            <a:avLst>
              <a:gd name="adj" fmla="val 11111"/>
            </a:avLst>
          </a:prstGeom>
          <a:solidFill>
            <a:srgbClr val="FFFFFF"/>
          </a:solidFill>
          <a:ln w="12700" cap="flat" cmpd="sng">
            <a:solidFill>
              <a:srgbClr val="FFFFFF"/>
            </a:solidFill>
            <a:prstDash val="solid"/>
            <a:round/>
            <a:headEnd type="none" w="sm" len="sm"/>
            <a:tailEnd type="none" w="sm" len="sm"/>
          </a:ln>
          <a:effectLst>
            <a:outerShdw blurRad="76200" dist="25400" dir="54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62" name="Google Shape;362;p13"/>
          <p:cNvSpPr/>
          <p:nvPr/>
        </p:nvSpPr>
        <p:spPr>
          <a:xfrm>
            <a:off x="853701" y="5052004"/>
            <a:ext cx="1582800" cy="365700"/>
          </a:xfrm>
          <a:prstGeom prst="roundRect">
            <a:avLst>
              <a:gd name="adj" fmla="val 37500"/>
            </a:avLst>
          </a:prstGeom>
          <a:solidFill>
            <a:srgbClr val="E45656"/>
          </a:solidFill>
          <a:ln w="12700" cap="flat" cmpd="sng">
            <a:solidFill>
              <a:srgbClr val="E4565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63" name="Google Shape;363;p13"/>
          <p:cNvSpPr txBox="1"/>
          <p:nvPr/>
        </p:nvSpPr>
        <p:spPr>
          <a:xfrm>
            <a:off x="853701" y="5052004"/>
            <a:ext cx="1582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vi-VN" b="1" i="0" u="none" strike="noStrike" cap="none" noProof="0" dirty="0">
                <a:solidFill>
                  <a:srgbClr val="FFFFFF"/>
                </a:solidFill>
                <a:latin typeface="Calibri"/>
                <a:ea typeface="Calibri"/>
                <a:cs typeface="Calibri"/>
                <a:sym typeface="Calibri"/>
              </a:rPr>
              <a:t>An toàn</a:t>
            </a:r>
            <a:endParaRPr lang="vi-VN" b="0" i="0" u="none" strike="noStrike" cap="none" noProof="0" dirty="0">
              <a:solidFill>
                <a:schemeClr val="dk1"/>
              </a:solidFill>
              <a:latin typeface="Calibri"/>
              <a:ea typeface="Calibri"/>
              <a:cs typeface="Calibri"/>
              <a:sym typeface="Calibri"/>
            </a:endParaRPr>
          </a:p>
        </p:txBody>
      </p:sp>
      <p:sp>
        <p:nvSpPr>
          <p:cNvPr id="364" name="Google Shape;364;p13"/>
          <p:cNvSpPr txBox="1"/>
          <p:nvPr/>
        </p:nvSpPr>
        <p:spPr>
          <a:xfrm>
            <a:off x="2700076" y="4905700"/>
            <a:ext cx="57369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3333"/>
              </a:buClr>
              <a:buSzPts val="1200"/>
              <a:buFont typeface="Calibri"/>
              <a:buNone/>
            </a:pPr>
            <a:r>
              <a:rPr lang="vi-VN" sz="1500" b="0" i="0" u="none" strike="noStrike" cap="none" noProof="0" dirty="0">
                <a:solidFill>
                  <a:srgbClr val="333333"/>
                </a:solidFill>
                <a:latin typeface="Calibri"/>
                <a:ea typeface="Calibri"/>
                <a:cs typeface="Calibri"/>
                <a:sym typeface="Calibri"/>
              </a:rPr>
              <a:t>Dữ liệu tối thiểu, băm mật khẩu, xin phép nhà trường, khảo sát ẩn danh</a:t>
            </a:r>
            <a:endParaRPr lang="vi-VN" sz="1500" b="0" i="0" u="none" strike="noStrike" cap="none" noProof="0" dirty="0">
              <a:solidFill>
                <a:schemeClr val="dk1"/>
              </a:solidFill>
              <a:latin typeface="Calibri"/>
              <a:ea typeface="Calibri"/>
              <a:cs typeface="Calibri"/>
              <a:sym typeface="Calibri"/>
            </a:endParaRPr>
          </a:p>
        </p:txBody>
      </p:sp>
      <p:sp>
        <p:nvSpPr>
          <p:cNvPr id="365" name="Google Shape;365;p13"/>
          <p:cNvSpPr/>
          <p:nvPr/>
        </p:nvSpPr>
        <p:spPr>
          <a:xfrm>
            <a:off x="548640" y="5760720"/>
            <a:ext cx="11091672" cy="548640"/>
          </a:xfrm>
          <a:prstGeom prst="roundRect">
            <a:avLst>
              <a:gd name="adj" fmla="val 16667"/>
            </a:avLst>
          </a:prstGeom>
          <a:solidFill>
            <a:srgbClr val="22B8CF"/>
          </a:solidFill>
          <a:ln w="12700" cap="flat" cmpd="sng">
            <a:solidFill>
              <a:srgbClr val="22B8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noProof="0" dirty="0"/>
          </a:p>
        </p:txBody>
      </p:sp>
      <p:sp>
        <p:nvSpPr>
          <p:cNvPr id="366" name="Google Shape;366;p13"/>
          <p:cNvSpPr txBox="1"/>
          <p:nvPr/>
        </p:nvSpPr>
        <p:spPr>
          <a:xfrm>
            <a:off x="731520" y="5760720"/>
            <a:ext cx="1072591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F3A"/>
              </a:buClr>
              <a:buSzPts val="1400"/>
              <a:buFont typeface="Calibri"/>
              <a:buNone/>
            </a:pPr>
            <a:r>
              <a:rPr lang="vi-VN" sz="1400" b="1" i="0" u="none" strike="noStrike" cap="none" noProof="0" dirty="0">
                <a:solidFill>
                  <a:srgbClr val="0B1F3A"/>
                </a:solidFill>
                <a:latin typeface="Calibri"/>
                <a:ea typeface="Calibri"/>
                <a:cs typeface="Calibri"/>
                <a:sym typeface="Calibri"/>
              </a:rPr>
              <a:t>Tiếp nhận góp ý sau mỗi vòng thử nghiệm để chỉnh sửa giao diện và tính năng.</a:t>
            </a:r>
            <a:endParaRPr lang="vi-VN" sz="14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Shape 371"/>
        <p:cNvGrpSpPr/>
        <p:nvPr/>
      </p:nvGrpSpPr>
      <p:grpSpPr>
        <a:xfrm>
          <a:off x="0" y="0"/>
          <a:ext cx="0" cy="0"/>
          <a:chOff x="0" y="0"/>
          <a:chExt cx="0" cy="0"/>
        </a:xfrm>
      </p:grpSpPr>
      <p:sp>
        <p:nvSpPr>
          <p:cNvPr id="372" name="Google Shape;372;p14"/>
          <p:cNvSpPr txBox="1"/>
          <p:nvPr/>
        </p:nvSpPr>
        <p:spPr>
          <a:xfrm>
            <a:off x="548640" y="347472"/>
            <a:ext cx="109728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2800"/>
              <a:buFont typeface="Calibri"/>
              <a:buNone/>
            </a:pPr>
            <a:r>
              <a:rPr lang="vi-VN" sz="3000" b="1" i="0" u="none" strike="noStrike" cap="none" noProof="0" dirty="0">
                <a:solidFill>
                  <a:srgbClr val="FFFFFF"/>
                </a:solidFill>
                <a:latin typeface="Calibri"/>
                <a:ea typeface="Calibri"/>
                <a:cs typeface="Calibri"/>
                <a:sym typeface="Calibri"/>
              </a:rPr>
              <a:t>9. Tiến độ và định hướng phát triển</a:t>
            </a:r>
            <a:endParaRPr lang="vi-VN" sz="3000" b="0" i="0" u="none" strike="noStrike" cap="none" noProof="0" dirty="0">
              <a:solidFill>
                <a:schemeClr val="dk1"/>
              </a:solidFill>
              <a:latin typeface="Calibri"/>
              <a:ea typeface="Calibri"/>
              <a:cs typeface="Calibri"/>
              <a:sym typeface="Calibri"/>
            </a:endParaRPr>
          </a:p>
        </p:txBody>
      </p:sp>
      <p:sp>
        <p:nvSpPr>
          <p:cNvPr id="373" name="Google Shape;373;p14"/>
          <p:cNvSpPr txBox="1"/>
          <p:nvPr/>
        </p:nvSpPr>
        <p:spPr>
          <a:xfrm>
            <a:off x="548640" y="932688"/>
            <a:ext cx="109728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2B8CF"/>
              </a:buClr>
              <a:buSzPts val="1400"/>
              <a:buFont typeface="Calibri"/>
              <a:buNone/>
            </a:pPr>
            <a:r>
              <a:rPr lang="vi-VN" sz="1600" b="1" i="0" u="none" strike="noStrike" cap="none" noProof="0" dirty="0">
                <a:solidFill>
                  <a:srgbClr val="22B8CF"/>
                </a:solidFill>
                <a:latin typeface="Calibri"/>
                <a:ea typeface="Calibri"/>
                <a:cs typeface="Calibri"/>
                <a:sym typeface="Calibri"/>
              </a:rPr>
              <a:t>Hai phân hệ đầu đã có kết quả; sáu hạng mục còn lại triển khai trước khi thực nghiệm.</a:t>
            </a:r>
            <a:endParaRPr lang="vi-VN" sz="1600" b="0" i="0" u="none" strike="noStrike" cap="none" noProof="0" dirty="0">
              <a:solidFill>
                <a:schemeClr val="dk1"/>
              </a:solidFill>
              <a:latin typeface="Calibri"/>
              <a:ea typeface="Calibri"/>
              <a:cs typeface="Calibri"/>
              <a:sym typeface="Calibri"/>
            </a:endParaRPr>
          </a:p>
        </p:txBody>
      </p:sp>
      <p:sp>
        <p:nvSpPr>
          <p:cNvPr id="374" name="Google Shape;374;p14"/>
          <p:cNvSpPr/>
          <p:nvPr/>
        </p:nvSpPr>
        <p:spPr>
          <a:xfrm>
            <a:off x="548640" y="1554480"/>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75" name="Google Shape;375;p14"/>
          <p:cNvSpPr txBox="1"/>
          <p:nvPr/>
        </p:nvSpPr>
        <p:spPr>
          <a:xfrm>
            <a:off x="731520" y="1554480"/>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Sắp xếp chỗ ngồi</a:t>
            </a:r>
            <a:endParaRPr lang="vi-VN" sz="1650" b="0" i="0" u="none" strike="noStrike" cap="none" noProof="0" dirty="0">
              <a:solidFill>
                <a:schemeClr val="dk1"/>
              </a:solidFill>
              <a:latin typeface="Calibri"/>
              <a:ea typeface="Calibri"/>
              <a:cs typeface="Calibri"/>
              <a:sym typeface="Calibri"/>
            </a:endParaRPr>
          </a:p>
        </p:txBody>
      </p:sp>
      <p:sp>
        <p:nvSpPr>
          <p:cNvPr id="378" name="Google Shape;378;p14"/>
          <p:cNvSpPr/>
          <p:nvPr/>
        </p:nvSpPr>
        <p:spPr>
          <a:xfrm>
            <a:off x="548640" y="2139696"/>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79" name="Google Shape;379;p14"/>
          <p:cNvSpPr txBox="1"/>
          <p:nvPr/>
        </p:nvSpPr>
        <p:spPr>
          <a:xfrm>
            <a:off x="731520" y="2139696"/>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Bầu cử ban cán sự</a:t>
            </a:r>
            <a:endParaRPr lang="vi-VN" sz="1650" b="0" i="0" u="none" strike="noStrike" cap="none" noProof="0" dirty="0">
              <a:solidFill>
                <a:schemeClr val="dk1"/>
              </a:solidFill>
              <a:latin typeface="Calibri"/>
              <a:ea typeface="Calibri"/>
              <a:cs typeface="Calibri"/>
              <a:sym typeface="Calibri"/>
            </a:endParaRPr>
          </a:p>
        </p:txBody>
      </p:sp>
      <p:sp>
        <p:nvSpPr>
          <p:cNvPr id="382" name="Google Shape;382;p14"/>
          <p:cNvSpPr/>
          <p:nvPr/>
        </p:nvSpPr>
        <p:spPr>
          <a:xfrm>
            <a:off x="548640" y="2724912"/>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83" name="Google Shape;383;p14"/>
          <p:cNvSpPr txBox="1"/>
          <p:nvPr/>
        </p:nvSpPr>
        <p:spPr>
          <a:xfrm>
            <a:off x="731520" y="2724912"/>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Quản lý hoạt động</a:t>
            </a:r>
            <a:endParaRPr lang="vi-VN" sz="1650" b="0" i="0" u="none" strike="noStrike" cap="none" noProof="0" dirty="0">
              <a:solidFill>
                <a:schemeClr val="dk1"/>
              </a:solidFill>
              <a:latin typeface="Calibri"/>
              <a:ea typeface="Calibri"/>
              <a:cs typeface="Calibri"/>
              <a:sym typeface="Calibri"/>
            </a:endParaRPr>
          </a:p>
        </p:txBody>
      </p:sp>
      <p:sp>
        <p:nvSpPr>
          <p:cNvPr id="386" name="Google Shape;386;p14"/>
          <p:cNvSpPr/>
          <p:nvPr/>
        </p:nvSpPr>
        <p:spPr>
          <a:xfrm>
            <a:off x="548640" y="3310128"/>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87" name="Google Shape;387;p14"/>
          <p:cNvSpPr txBox="1"/>
          <p:nvPr/>
        </p:nvSpPr>
        <p:spPr>
          <a:xfrm>
            <a:off x="731520" y="3310128"/>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Bản tin tuần</a:t>
            </a:r>
            <a:endParaRPr lang="vi-VN" sz="1650" b="0" i="0" u="none" strike="noStrike" cap="none" noProof="0" dirty="0">
              <a:solidFill>
                <a:schemeClr val="dk1"/>
              </a:solidFill>
              <a:latin typeface="Calibri"/>
              <a:ea typeface="Calibri"/>
              <a:cs typeface="Calibri"/>
              <a:sym typeface="Calibri"/>
            </a:endParaRPr>
          </a:p>
        </p:txBody>
      </p:sp>
      <p:sp>
        <p:nvSpPr>
          <p:cNvPr id="390" name="Google Shape;390;p14"/>
          <p:cNvSpPr/>
          <p:nvPr/>
        </p:nvSpPr>
        <p:spPr>
          <a:xfrm>
            <a:off x="548640" y="3895344"/>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91" name="Google Shape;391;p14"/>
          <p:cNvSpPr txBox="1"/>
          <p:nvPr/>
        </p:nvSpPr>
        <p:spPr>
          <a:xfrm>
            <a:off x="731520" y="3895344"/>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Lịch trực nhật</a:t>
            </a:r>
            <a:endParaRPr lang="vi-VN" sz="1650" b="0" i="0" u="none" strike="noStrike" cap="none" noProof="0" dirty="0">
              <a:solidFill>
                <a:schemeClr val="dk1"/>
              </a:solidFill>
              <a:latin typeface="Calibri"/>
              <a:ea typeface="Calibri"/>
              <a:cs typeface="Calibri"/>
              <a:sym typeface="Calibri"/>
            </a:endParaRPr>
          </a:p>
        </p:txBody>
      </p:sp>
      <p:sp>
        <p:nvSpPr>
          <p:cNvPr id="394" name="Google Shape;394;p14"/>
          <p:cNvSpPr/>
          <p:nvPr/>
        </p:nvSpPr>
        <p:spPr>
          <a:xfrm>
            <a:off x="548640" y="4480560"/>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95" name="Google Shape;395;p14"/>
          <p:cNvSpPr txBox="1"/>
          <p:nvPr/>
        </p:nvSpPr>
        <p:spPr>
          <a:xfrm>
            <a:off x="731520" y="4480560"/>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Phân nhóm</a:t>
            </a:r>
            <a:endParaRPr lang="vi-VN" sz="1650" b="0" i="0" u="none" strike="noStrike" cap="none" noProof="0" dirty="0">
              <a:solidFill>
                <a:schemeClr val="dk1"/>
              </a:solidFill>
              <a:latin typeface="Calibri"/>
              <a:ea typeface="Calibri"/>
              <a:cs typeface="Calibri"/>
              <a:sym typeface="Calibri"/>
            </a:endParaRPr>
          </a:p>
        </p:txBody>
      </p:sp>
      <p:sp>
        <p:nvSpPr>
          <p:cNvPr id="398" name="Google Shape;398;p14"/>
          <p:cNvSpPr/>
          <p:nvPr/>
        </p:nvSpPr>
        <p:spPr>
          <a:xfrm>
            <a:off x="548640" y="5065776"/>
            <a:ext cx="5852160" cy="493776"/>
          </a:xfrm>
          <a:prstGeom prst="roundRect">
            <a:avLst>
              <a:gd name="adj" fmla="val 14815"/>
            </a:avLst>
          </a:prstGeom>
          <a:solidFill>
            <a:srgbClr val="163A63"/>
          </a:solidFill>
          <a:ln w="12700" cap="flat" cmpd="sng">
            <a:solidFill>
              <a:srgbClr val="163A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700" noProof="0" dirty="0"/>
          </a:p>
        </p:txBody>
      </p:sp>
      <p:sp>
        <p:nvSpPr>
          <p:cNvPr id="399" name="Google Shape;399;p14"/>
          <p:cNvSpPr txBox="1"/>
          <p:nvPr/>
        </p:nvSpPr>
        <p:spPr>
          <a:xfrm>
            <a:off x="731520" y="5065776"/>
            <a:ext cx="274320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50"/>
              <a:buFont typeface="Calibri"/>
              <a:buNone/>
            </a:pPr>
            <a:r>
              <a:rPr lang="vi-VN" sz="1650" b="1" i="0" u="none" strike="noStrike" cap="none" noProof="0" dirty="0">
                <a:solidFill>
                  <a:srgbClr val="FFFFFF"/>
                </a:solidFill>
                <a:latin typeface="Calibri"/>
                <a:ea typeface="Calibri"/>
                <a:cs typeface="Calibri"/>
                <a:sym typeface="Calibri"/>
              </a:rPr>
              <a:t>Thực nghiệm, báo cáo</a:t>
            </a:r>
            <a:endParaRPr lang="vi-VN" sz="1650" b="0" i="0" u="none" strike="noStrike" cap="none" noProof="0" dirty="0">
              <a:solidFill>
                <a:schemeClr val="dk1"/>
              </a:solidFill>
              <a:latin typeface="Calibri"/>
              <a:ea typeface="Calibri"/>
              <a:cs typeface="Calibri"/>
              <a:sym typeface="Calibri"/>
            </a:endParaRPr>
          </a:p>
        </p:txBody>
      </p:sp>
      <p:sp>
        <p:nvSpPr>
          <p:cNvPr id="402" name="Google Shape;402;p14"/>
          <p:cNvSpPr/>
          <p:nvPr/>
        </p:nvSpPr>
        <p:spPr>
          <a:xfrm>
            <a:off x="6720840" y="1554480"/>
            <a:ext cx="4919400" cy="4041600"/>
          </a:xfrm>
          <a:prstGeom prst="roundRect">
            <a:avLst>
              <a:gd name="adj" fmla="val 1810"/>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vi-VN" sz="1500" noProof="0" dirty="0"/>
          </a:p>
        </p:txBody>
      </p:sp>
      <p:sp>
        <p:nvSpPr>
          <p:cNvPr id="403" name="Google Shape;403;p14"/>
          <p:cNvSpPr txBox="1"/>
          <p:nvPr/>
        </p:nvSpPr>
        <p:spPr>
          <a:xfrm>
            <a:off x="6949440" y="1691640"/>
            <a:ext cx="44805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02A43"/>
              </a:buClr>
              <a:buSzPts val="1700"/>
              <a:buFont typeface="Calibri"/>
              <a:buNone/>
            </a:pPr>
            <a:r>
              <a:rPr lang="vi-VN" sz="2200" b="1" i="0" u="none" strike="noStrike" cap="none" noProof="0" dirty="0">
                <a:solidFill>
                  <a:srgbClr val="102A43"/>
                </a:solidFill>
                <a:latin typeface="Calibri"/>
                <a:ea typeface="Calibri"/>
                <a:cs typeface="Calibri"/>
                <a:sym typeface="Calibri"/>
              </a:rPr>
              <a:t>Định hướng phát triển</a:t>
            </a:r>
            <a:endParaRPr lang="vi-VN" sz="2200" b="0" i="0" u="none" strike="noStrike" cap="none" noProof="0" dirty="0">
              <a:solidFill>
                <a:schemeClr val="dk1"/>
              </a:solidFill>
              <a:latin typeface="Calibri"/>
              <a:ea typeface="Calibri"/>
              <a:cs typeface="Calibri"/>
              <a:sym typeface="Calibri"/>
            </a:endParaRPr>
          </a:p>
        </p:txBody>
      </p:sp>
      <p:sp>
        <p:nvSpPr>
          <p:cNvPr id="404" name="Google Shape;404;p14"/>
          <p:cNvSpPr txBox="1"/>
          <p:nvPr/>
        </p:nvSpPr>
        <p:spPr>
          <a:xfrm>
            <a:off x="6949449" y="2194550"/>
            <a:ext cx="4062900" cy="3291900"/>
          </a:xfrm>
          <a:prstGeom prst="rect">
            <a:avLst/>
          </a:prstGeom>
          <a:noFill/>
          <a:ln>
            <a:noFill/>
          </a:ln>
        </p:spPr>
        <p:txBody>
          <a:bodyPr spcFirstLastPara="1" wrap="square" lIns="0" tIns="0" rIns="0" bIns="0" anchor="t" anchorCtr="0">
            <a:noAutofit/>
          </a:bodyPr>
          <a:lstStyle/>
          <a:p>
            <a:pPr marL="342900" marR="0" lvl="0" indent="-355600" algn="just" rtl="0">
              <a:spcBef>
                <a:spcPts val="0"/>
              </a:spcBef>
              <a:spcAft>
                <a:spcPts val="0"/>
              </a:spcAft>
              <a:buClr>
                <a:srgbClr val="333333"/>
              </a:buClr>
              <a:buSzPts val="1600"/>
              <a:buFont typeface="Calibri"/>
              <a:buChar char="•"/>
            </a:pPr>
            <a:r>
              <a:rPr lang="vi-VN" sz="1600" b="0" i="0" u="none" strike="noStrike" cap="none" noProof="0" dirty="0">
                <a:solidFill>
                  <a:srgbClr val="333333"/>
                </a:solidFill>
                <a:latin typeface="Calibri"/>
                <a:ea typeface="Calibri"/>
                <a:cs typeface="Calibri"/>
                <a:sym typeface="Calibri"/>
              </a:rPr>
              <a:t>Mở rộng quản lý tới tất cả các lớp trong trường</a:t>
            </a:r>
            <a:endParaRPr lang="vi-VN" sz="1600" b="0" i="0" u="none" strike="noStrike" cap="none" noProof="0" dirty="0">
              <a:solidFill>
                <a:schemeClr val="dk1"/>
              </a:solidFill>
              <a:latin typeface="Calibri"/>
              <a:ea typeface="Calibri"/>
              <a:cs typeface="Calibri"/>
              <a:sym typeface="Calibri"/>
            </a:endParaRPr>
          </a:p>
          <a:p>
            <a:pPr marL="342900" marR="0" lvl="0" indent="-355600" algn="just" rtl="0">
              <a:spcBef>
                <a:spcPts val="700"/>
              </a:spcBef>
              <a:spcAft>
                <a:spcPts val="0"/>
              </a:spcAft>
              <a:buClr>
                <a:srgbClr val="333333"/>
              </a:buClr>
              <a:buSzPts val="1600"/>
              <a:buFont typeface="Calibri"/>
              <a:buChar char="•"/>
            </a:pPr>
            <a:r>
              <a:rPr lang="vi-VN" sz="1600" b="0" i="0" u="none" strike="noStrike" cap="none" noProof="0" dirty="0">
                <a:solidFill>
                  <a:srgbClr val="333333"/>
                </a:solidFill>
                <a:latin typeface="Calibri"/>
                <a:ea typeface="Calibri"/>
                <a:cs typeface="Calibri"/>
                <a:sym typeface="Calibri"/>
              </a:rPr>
              <a:t>Thời khóa biểu, đăng </a:t>
            </a:r>
            <a:r>
              <a:rPr lang="vi-VN" sz="1600" b="0" i="0" u="none" strike="noStrike" cap="none" noProof="0">
                <a:solidFill>
                  <a:srgbClr val="333333"/>
                </a:solidFill>
                <a:latin typeface="Calibri"/>
                <a:ea typeface="Calibri"/>
                <a:cs typeface="Calibri"/>
                <a:sym typeface="Calibri"/>
              </a:rPr>
              <a:t>ký môn học, </a:t>
            </a:r>
            <a:r>
              <a:rPr lang="vi-VN" sz="1600" b="0" i="0" u="none" strike="noStrike" cap="none" noProof="0" dirty="0">
                <a:solidFill>
                  <a:srgbClr val="333333"/>
                </a:solidFill>
                <a:latin typeface="Calibri"/>
                <a:ea typeface="Calibri"/>
                <a:cs typeface="Calibri"/>
                <a:sym typeface="Calibri"/>
              </a:rPr>
              <a:t>thông báo toàn trường</a:t>
            </a:r>
            <a:endParaRPr lang="vi-VN" sz="1600" b="0" i="0" u="none" strike="noStrike" cap="none" noProof="0" dirty="0">
              <a:solidFill>
                <a:schemeClr val="dk1"/>
              </a:solidFill>
              <a:latin typeface="Calibri"/>
              <a:ea typeface="Calibri"/>
              <a:cs typeface="Calibri"/>
              <a:sym typeface="Calibri"/>
            </a:endParaRPr>
          </a:p>
          <a:p>
            <a:pPr marL="342900" marR="0" lvl="0" indent="-355600" algn="just" rtl="0">
              <a:spcBef>
                <a:spcPts val="700"/>
              </a:spcBef>
              <a:spcAft>
                <a:spcPts val="0"/>
              </a:spcAft>
              <a:buClr>
                <a:srgbClr val="333333"/>
              </a:buClr>
              <a:buSzPts val="1600"/>
              <a:buFont typeface="Calibri"/>
              <a:buChar char="•"/>
            </a:pPr>
            <a:r>
              <a:rPr lang="vi-VN" sz="1600" b="0" i="0" u="none" strike="noStrike" cap="none" noProof="0" dirty="0">
                <a:solidFill>
                  <a:srgbClr val="333333"/>
                </a:solidFill>
                <a:latin typeface="Calibri"/>
                <a:ea typeface="Calibri"/>
                <a:cs typeface="Calibri"/>
                <a:sym typeface="Calibri"/>
              </a:rPr>
              <a:t>Thông báo đẩy</a:t>
            </a:r>
            <a:endParaRPr lang="vi-VN" sz="1600" b="0" i="0" u="none" strike="noStrike" cap="none" noProof="0" dirty="0">
              <a:solidFill>
                <a:schemeClr val="dk1"/>
              </a:solidFill>
              <a:latin typeface="Calibri"/>
              <a:ea typeface="Calibri"/>
              <a:cs typeface="Calibri"/>
              <a:sym typeface="Calibri"/>
            </a:endParaRPr>
          </a:p>
          <a:p>
            <a:pPr marL="342900" marR="0" lvl="0" indent="-355600" algn="just" rtl="0">
              <a:spcBef>
                <a:spcPts val="700"/>
              </a:spcBef>
              <a:spcAft>
                <a:spcPts val="0"/>
              </a:spcAft>
              <a:buClr>
                <a:srgbClr val="333333"/>
              </a:buClr>
              <a:buSzPts val="1600"/>
              <a:buFont typeface="Calibri"/>
              <a:buChar char="•"/>
            </a:pPr>
            <a:r>
              <a:rPr lang="vi-VN" sz="1600" b="0" i="0" u="none" strike="noStrike" cap="none" noProof="0" dirty="0">
                <a:solidFill>
                  <a:srgbClr val="333333"/>
                </a:solidFill>
                <a:latin typeface="Calibri"/>
                <a:ea typeface="Calibri"/>
                <a:cs typeface="Calibri"/>
                <a:sym typeface="Calibri"/>
              </a:rPr>
              <a:t>Điểm danh nhanh; thống kê thi đua theo tuần, tháng, học kỳ</a:t>
            </a:r>
            <a:endParaRPr lang="vi-VN" sz="1600" b="0" i="0" u="none" strike="noStrike" cap="none" noProof="0" dirty="0">
              <a:solidFill>
                <a:schemeClr val="dk1"/>
              </a:solidFill>
              <a:latin typeface="Calibri"/>
              <a:ea typeface="Calibri"/>
              <a:cs typeface="Calibri"/>
              <a:sym typeface="Calibri"/>
            </a:endParaRPr>
          </a:p>
        </p:txBody>
      </p:sp>
      <p:sp>
        <p:nvSpPr>
          <p:cNvPr id="405" name="Google Shape;405;p14"/>
          <p:cNvSpPr txBox="1"/>
          <p:nvPr/>
        </p:nvSpPr>
        <p:spPr>
          <a:xfrm>
            <a:off x="548640" y="603504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FD7EA"/>
              </a:buClr>
              <a:buSzPts val="1100"/>
              <a:buFont typeface="Calibri"/>
              <a:buNone/>
            </a:pPr>
            <a:r>
              <a:rPr lang="vi-VN" b="0" i="0" u="none" strike="noStrike" cap="none" noProof="0" dirty="0">
                <a:solidFill>
                  <a:srgbClr val="BFD7EA"/>
                </a:solidFill>
                <a:latin typeface="Calibri"/>
                <a:ea typeface="Calibri"/>
                <a:cs typeface="Calibri"/>
                <a:sym typeface="Calibri"/>
              </a:rPr>
              <a:t>Tài liệu tham khảo: </a:t>
            </a:r>
            <a:r>
              <a:rPr lang="vi-VN" b="0" i="0" u="none" strike="noStrike" cap="none" noProof="0" dirty="0" err="1">
                <a:solidFill>
                  <a:srgbClr val="BFD7EA"/>
                </a:solidFill>
                <a:latin typeface="Calibri"/>
                <a:ea typeface="Calibri"/>
                <a:cs typeface="Calibri"/>
                <a:sym typeface="Calibri"/>
              </a:rPr>
              <a:t>react.dev</a:t>
            </a:r>
            <a:r>
              <a:rPr lang="vi-VN" b="0" i="0" u="none" strike="noStrike" cap="none" noProof="0" dirty="0">
                <a:solidFill>
                  <a:srgbClr val="BFD7EA"/>
                </a:solidFill>
                <a:latin typeface="Calibri"/>
                <a:ea typeface="Calibri"/>
                <a:cs typeface="Calibri"/>
                <a:sym typeface="Calibri"/>
              </a:rPr>
              <a:t>/</a:t>
            </a:r>
            <a:r>
              <a:rPr lang="vi-VN" b="0" i="0" u="none" strike="noStrike" cap="none" noProof="0" dirty="0" err="1">
                <a:solidFill>
                  <a:srgbClr val="BFD7EA"/>
                </a:solidFill>
                <a:latin typeface="Calibri"/>
                <a:ea typeface="Calibri"/>
                <a:cs typeface="Calibri"/>
                <a:sym typeface="Calibri"/>
              </a:rPr>
              <a:t>learn</a:t>
            </a:r>
            <a:r>
              <a:rPr lang="vi-VN" b="0" i="0" u="none" strike="noStrike" cap="none" noProof="0" dirty="0">
                <a:solidFill>
                  <a:srgbClr val="BFD7EA"/>
                </a:solidFill>
                <a:latin typeface="Calibri"/>
                <a:ea typeface="Calibri"/>
                <a:cs typeface="Calibri"/>
                <a:sym typeface="Calibri"/>
              </a:rPr>
              <a:t> • mongodb.com/</a:t>
            </a:r>
            <a:r>
              <a:rPr lang="vi-VN" b="0" i="0" u="none" strike="noStrike" cap="none" noProof="0" dirty="0" err="1">
                <a:solidFill>
                  <a:srgbClr val="BFD7EA"/>
                </a:solidFill>
                <a:latin typeface="Calibri"/>
                <a:ea typeface="Calibri"/>
                <a:cs typeface="Calibri"/>
                <a:sym typeface="Calibri"/>
              </a:rPr>
              <a:t>docs</a:t>
            </a:r>
            <a:r>
              <a:rPr lang="vi-VN" b="0" i="0" u="none" strike="noStrike" cap="none" noProof="0" dirty="0">
                <a:solidFill>
                  <a:srgbClr val="BFD7EA"/>
                </a:solidFill>
                <a:latin typeface="Calibri"/>
                <a:ea typeface="Calibri"/>
                <a:cs typeface="Calibri"/>
                <a:sym typeface="Calibri"/>
              </a:rPr>
              <a:t> • docs.netlify.com</a:t>
            </a:r>
            <a:endParaRPr lang="vi-VN" b="0" i="0" u="none" strike="noStrike" cap="none" noProof="0" dirty="0">
              <a:solidFill>
                <a:schemeClr val="dk1"/>
              </a:solidFill>
              <a:latin typeface="Calibri"/>
              <a:ea typeface="Calibri"/>
              <a:cs typeface="Calibri"/>
              <a:sym typeface="Calibri"/>
            </a:endParaRPr>
          </a:p>
        </p:txBody>
      </p:sp>
      <p:sp>
        <p:nvSpPr>
          <p:cNvPr id="406" name="Google Shape;406;p14"/>
          <p:cNvSpPr txBox="1"/>
          <p:nvPr/>
        </p:nvSpPr>
        <p:spPr>
          <a:xfrm>
            <a:off x="11155680" y="6400800"/>
            <a:ext cx="484632"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rgbClr val="BFD7EA"/>
              </a:buClr>
              <a:buSzPts val="1000"/>
              <a:buFont typeface="Calibri"/>
              <a:buNone/>
            </a:pPr>
            <a:r>
              <a:rPr lang="vi-VN" sz="1000" b="0" i="0" u="none" strike="noStrike" cap="none" noProof="0" dirty="0">
                <a:solidFill>
                  <a:srgbClr val="BFD7EA"/>
                </a:solidFill>
                <a:latin typeface="Calibri"/>
                <a:ea typeface="Calibri"/>
                <a:cs typeface="Calibri"/>
                <a:sym typeface="Calibri"/>
              </a:rPr>
              <a:t>10</a:t>
            </a:r>
            <a:endParaRPr lang="vi-VN" sz="10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2483</Words>
  <Application>Microsoft Office PowerPoint</Application>
  <PresentationFormat>Widescreen</PresentationFormat>
  <Paragraphs>230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Roboto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Nguyễn Phước Đức Thịnh</cp:lastModifiedBy>
  <cp:revision>3</cp:revision>
  <dcterms:modified xsi:type="dcterms:W3CDTF">2026-10-02T06:13:22Z</dcterms:modified>
</cp:coreProperties>
</file>